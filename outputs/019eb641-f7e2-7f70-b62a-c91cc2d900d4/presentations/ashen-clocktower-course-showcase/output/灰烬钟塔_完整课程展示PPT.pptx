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file:///D:/UNITY2/AshenClocktower/Metroidvania.ex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10F"/>
          </a:solidFill>
          <a:ln w="12700">
            <a:solidFill>
              <a:srgbClr val="15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8B35">
              <a:alpha val="92000"/>
            </a:srgbClr>
          </a:solidFill>
          <a:ln w="12700">
            <a:solidFill>
              <a:srgbClr val="E08B3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600000">
            <a:off x="9464040" y="-777240"/>
            <a:ext cx="3200400" cy="3200400"/>
          </a:xfrm>
          <a:prstGeom prst="arc">
            <a:avLst/>
          </a:prstGeom>
          <a:solidFill>
            <a:srgbClr val="15110F">
              <a:alpha val="0"/>
            </a:srgbClr>
          </a:solidFill>
          <a:ln w="12700">
            <a:solidFill>
              <a:srgbClr val="E08B35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6600000">
            <a:off x="9893808" y="-347472"/>
            <a:ext cx="2331720" cy="2331720"/>
          </a:xfrm>
          <a:prstGeom prst="arc">
            <a:avLst/>
          </a:prstGeom>
          <a:solidFill>
            <a:srgbClr val="15110F">
              <a:alpha val="0"/>
            </a:srgbClr>
          </a:solidFill>
          <a:ln w="12700">
            <a:solidFill>
              <a:srgbClr val="F4B15D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0" y="644652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6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灰烬钟塔 / Ashen Clocktower · 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4434840"/>
            <a:ext cx="12191695" cy="2423160"/>
          </a:xfrm>
          <a:prstGeom prst="rect">
            <a:avLst/>
          </a:prstGeom>
          <a:solidFill>
            <a:srgbClr val="080706">
              <a:alpha val="82000"/>
            </a:srgbClr>
          </a:solidFill>
          <a:ln w="12700">
            <a:solidFill>
              <a:srgbClr val="08070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713232"/>
            <a:ext cx="384048" cy="32004"/>
          </a:xfrm>
          <a:prstGeom prst="rect">
            <a:avLst/>
          </a:prstGeom>
          <a:solidFill>
            <a:srgbClr val="E08B35"/>
          </a:solidFill>
          <a:ln w="12700">
            <a:solidFill>
              <a:srgbClr val="E08B3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64008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B1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COURSE DESIGN SHOWCASE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685800" y="109728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灰烬钟塔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31520" y="193852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1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Ashen Clocktower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2542032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战斗夺回灰烬，切相显现过去。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8096" y="3054096"/>
            <a:ext cx="621792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一款 2D 类银河恶魔城课程设计 Demo：用共享资源把战斗、生存、探索和叙事拧成同一个循环。</a:t>
            </a:r>
            <a:endParaRPr lang="en-US" sz="1240" dirty="0"/>
          </a:p>
        </p:txBody>
      </p:sp>
      <p:pic>
        <p:nvPicPr>
          <p:cNvPr id="14" name="Image 0" descr="D:\UNITY2\LearnMetroidvania\Metroidvania\Assets\Animation\Enemy\BossBringer\Bringer.png">    </p:cNvPr>
          <p:cNvPicPr>
            <a:picLocks noChangeAspect="1"/>
          </p:cNvPicPr>
          <p:nvPr/>
        </p:nvPicPr>
        <p:blipFill>
          <a:blip r:embed="rId1">
            <a:alphaModFix amt="98000"/>
          </a:blip>
          <a:stretch>
            <a:fillRect/>
          </a:stretch>
        </p:blipFill>
        <p:spPr>
          <a:xfrm>
            <a:off x="8823960" y="1481328"/>
            <a:ext cx="2103120" cy="2103120"/>
          </a:xfrm>
          <a:prstGeom prst="rect">
            <a:avLst/>
          </a:prstGeom>
        </p:spPr>
      </p:pic>
      <p:pic>
        <p:nvPicPr>
          <p:cNvPr id="15" name="Image 1" descr="D:\UNITY2\LearnMetroidvania\Metroidvania\Assets\Animation\FX\Particles\fi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4434840"/>
            <a:ext cx="640080" cy="6400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77240" y="4892040"/>
            <a:ext cx="5623560" cy="896112"/>
          </a:xfrm>
          <a:prstGeom prst="roundRect">
            <a:avLst>
              <a:gd name="adj" fmla="val 6122"/>
            </a:avLst>
          </a:prstGeom>
          <a:solidFill>
            <a:srgbClr val="2B211D">
              <a:alpha val="96000"/>
            </a:srgbClr>
          </a:solidFill>
          <a:ln w="12700">
            <a:solidFill>
              <a:srgbClr val="4A3427">
                <a:alpha val="9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32688" y="5020056"/>
            <a:ext cx="5312664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展示结构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 → 游戏循环 → 简版策划案 → 系统/关卡 → 实现成果 → 展示视频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903720" y="4892040"/>
            <a:ext cx="4480560" cy="896112"/>
          </a:xfrm>
          <a:prstGeom prst="roundRect">
            <a:avLst>
              <a:gd name="adj" fmla="val 6122"/>
            </a:avLst>
          </a:prstGeom>
          <a:solidFill>
            <a:srgbClr val="2A1812">
              <a:alpha val="96000"/>
            </a:srgbClr>
          </a:solidFill>
          <a:ln w="12700">
            <a:solidFill>
              <a:srgbClr val="E08B35">
                <a:alpha val="9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059168" y="5020056"/>
            <a:ext cx="4169664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目标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让评委在 3 分钟内理解“灰烬”如何同时驱动玩法与世界观。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10F"/>
          </a:solidFill>
          <a:ln w="12700">
            <a:solidFill>
              <a:srgbClr val="15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8B35">
              <a:alpha val="92000"/>
            </a:srgbClr>
          </a:solidFill>
          <a:ln w="12700">
            <a:solidFill>
              <a:srgbClr val="E08B3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600000">
            <a:off x="9464040" y="-777240"/>
            <a:ext cx="3200400" cy="3200400"/>
          </a:xfrm>
          <a:prstGeom prst="arc">
            <a:avLst/>
          </a:prstGeom>
          <a:solidFill>
            <a:srgbClr val="15110F">
              <a:alpha val="0"/>
            </a:srgbClr>
          </a:solidFill>
          <a:ln w="12700">
            <a:solidFill>
              <a:srgbClr val="E08B35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6600000">
            <a:off x="9893808" y="-347472"/>
            <a:ext cx="2331720" cy="2331720"/>
          </a:xfrm>
          <a:prstGeom prst="arc">
            <a:avLst/>
          </a:prstGeom>
          <a:solidFill>
            <a:srgbClr val="15110F">
              <a:alpha val="0"/>
            </a:srgbClr>
          </a:solidFill>
          <a:ln w="12700">
            <a:solidFill>
              <a:srgbClr val="F4B15D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9184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OVERVIEW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26880" y="644652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6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灰烬钟塔 / Ashen Clocktower ·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658368"/>
            <a:ext cx="768096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项目定位：用一个核心资源组织整套体验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76656" y="117043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课程展示重点不是堆功能，而是证明“灰烬”能支撑可玩的动作探索循环。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68096" y="182880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B1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68096" y="20574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2D 横版动作 / 类银河恶魔城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11296" y="182880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B1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核心卖点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11296" y="20574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战斗产出灰烬，切相显现过去地形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54496" y="182880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B1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目标体验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54496" y="20574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短程战斗压力 + 地图回路发现 + 叙事残响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97696" y="182880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B1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展示版本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997696" y="20574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基础战斗、HUD、灰烬态、叙事触发、房间蓝图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2944368"/>
            <a:ext cx="10515600" cy="0"/>
          </a:xfrm>
          <a:prstGeom prst="line">
            <a:avLst/>
          </a:prstGeom>
          <a:noFill/>
          <a:ln w="12700">
            <a:solidFill>
              <a:srgbClr val="4A34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337560"/>
            <a:ext cx="3246120" cy="960120"/>
          </a:xfrm>
          <a:prstGeom prst="roundRect">
            <a:avLst>
              <a:gd name="adj" fmla="val 5714"/>
            </a:avLst>
          </a:prstGeom>
          <a:solidFill>
            <a:srgbClr val="211915">
              <a:alpha val="96000"/>
            </a:srgbClr>
          </a:solidFill>
          <a:ln w="12700">
            <a:solidFill>
              <a:srgbClr val="4A3427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465576"/>
            <a:ext cx="2935224" cy="740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动作平台跳跃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移动、攻击、受击反馈构成基础手感。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16552" y="3337560"/>
            <a:ext cx="3246120" cy="960120"/>
          </a:xfrm>
          <a:prstGeom prst="roundRect">
            <a:avLst>
              <a:gd name="adj" fmla="val 5714"/>
            </a:avLst>
          </a:prstGeom>
          <a:solidFill>
            <a:srgbClr val="342218">
              <a:alpha val="96000"/>
            </a:srgbClr>
          </a:solidFill>
          <a:ln w="12700">
            <a:solidFill>
              <a:srgbClr val="4A3427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465576"/>
            <a:ext cx="2935224" cy="740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灰烬资源管理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技能、回血、切相共用同一消耗池。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19872" y="3337560"/>
            <a:ext cx="3246120" cy="960120"/>
          </a:xfrm>
          <a:prstGeom prst="roundRect">
            <a:avLst>
              <a:gd name="adj" fmla="val 5714"/>
            </a:avLst>
          </a:prstGeom>
          <a:solidFill>
            <a:srgbClr val="211915">
              <a:alpha val="96000"/>
            </a:srgbClr>
          </a:solidFill>
          <a:ln w="12700">
            <a:solidFill>
              <a:srgbClr val="4A3427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3465576"/>
            <a:ext cx="2935224" cy="740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切相探索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进入灰烬态后旧桥、隐藏结构显现。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3232" y="4828032"/>
            <a:ext cx="3246120" cy="960120"/>
          </a:xfrm>
          <a:prstGeom prst="roundRect">
            <a:avLst>
              <a:gd name="adj" fmla="val 5714"/>
            </a:avLst>
          </a:prstGeom>
          <a:solidFill>
            <a:srgbClr val="211915">
              <a:alpha val="96000"/>
            </a:srgbClr>
          </a:solidFill>
          <a:ln w="12700">
            <a:solidFill>
              <a:srgbClr val="4A3427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956048"/>
            <a:ext cx="2935224" cy="740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房间式关卡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房间独立搭建，传送门统一连接。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16552" y="4828032"/>
            <a:ext cx="3246120" cy="960120"/>
          </a:xfrm>
          <a:prstGeom prst="roundRect">
            <a:avLst>
              <a:gd name="adj" fmla="val 5714"/>
            </a:avLst>
          </a:prstGeom>
          <a:solidFill>
            <a:srgbClr val="211915">
              <a:alpha val="96000"/>
            </a:srgbClr>
          </a:solidFill>
          <a:ln w="12700">
            <a:solidFill>
              <a:srgbClr val="4A3427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4956048"/>
            <a:ext cx="2935224" cy="740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剧情残响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短句石碑与旧日长廊把机制嵌入世界观。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10F"/>
          </a:solidFill>
          <a:ln w="12700">
            <a:solidFill>
              <a:srgbClr val="15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8B35">
              <a:alpha val="92000"/>
            </a:srgbClr>
          </a:solidFill>
          <a:ln w="12700">
            <a:solidFill>
              <a:srgbClr val="E08B3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600000">
            <a:off x="9464040" y="-777240"/>
            <a:ext cx="3200400" cy="3200400"/>
          </a:xfrm>
          <a:prstGeom prst="arc">
            <a:avLst/>
          </a:prstGeom>
          <a:solidFill>
            <a:srgbClr val="15110F">
              <a:alpha val="0"/>
            </a:srgbClr>
          </a:solidFill>
          <a:ln w="12700">
            <a:solidFill>
              <a:srgbClr val="E08B35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6600000">
            <a:off x="9893808" y="-347472"/>
            <a:ext cx="2331720" cy="2331720"/>
          </a:xfrm>
          <a:prstGeom prst="arc">
            <a:avLst/>
          </a:prstGeom>
          <a:solidFill>
            <a:srgbClr val="15110F">
              <a:alpha val="0"/>
            </a:srgbClr>
          </a:solidFill>
          <a:ln w="12700">
            <a:solidFill>
              <a:srgbClr val="F4B15D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9184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LOOP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26880" y="644652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6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灰烬钟塔 / Ashen Clocktower · 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658368"/>
            <a:ext cx="768096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核心循环：战斗让玩家获得“触碰过去”的时间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76656" y="117043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灰烬不是单独数值，而是战斗、生存、探索三者之间的取舍。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" y="2514600"/>
            <a:ext cx="1664208" cy="1005840"/>
          </a:xfrm>
          <a:prstGeom prst="roundRect">
            <a:avLst>
              <a:gd name="adj" fmla="val 7273"/>
            </a:avLst>
          </a:prstGeom>
          <a:solidFill>
            <a:srgbClr val="B8583E">
              <a:alpha val="92000"/>
            </a:srgbClr>
          </a:solidFill>
          <a:ln w="12700">
            <a:solidFill>
              <a:srgbClr val="B858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660904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战斗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42416" y="29718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攻击敌人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获得灰烬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63240" y="2514600"/>
            <a:ext cx="1664208" cy="1005840"/>
          </a:xfrm>
          <a:prstGeom prst="roundRect">
            <a:avLst>
              <a:gd name="adj" fmla="val 7273"/>
            </a:avLst>
          </a:prstGeom>
          <a:solidFill>
            <a:srgbClr val="E08B35">
              <a:alpha val="92000"/>
            </a:srgbClr>
          </a:solidFill>
          <a:ln w="12700">
            <a:solidFill>
              <a:srgbClr val="E08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91256" y="2660904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灰烬池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91256" y="29718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 / 回血 / 切相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共享资源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212080" y="2514600"/>
            <a:ext cx="1664208" cy="1005840"/>
          </a:xfrm>
          <a:prstGeom prst="roundRect">
            <a:avLst>
              <a:gd name="adj" fmla="val 7273"/>
            </a:avLst>
          </a:prstGeom>
          <a:solidFill>
            <a:srgbClr val="F4B15D">
              <a:alpha val="92000"/>
            </a:srgbClr>
          </a:solidFill>
          <a:ln w="12700">
            <a:solidFill>
              <a:srgbClr val="F4B1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2660904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40096" y="29718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R 进入灰烬态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持续消耗灰烬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60920" y="2514600"/>
            <a:ext cx="1664208" cy="1005840"/>
          </a:xfrm>
          <a:prstGeom prst="roundRect">
            <a:avLst>
              <a:gd name="adj" fmla="val 7273"/>
            </a:avLst>
          </a:prstGeom>
          <a:solidFill>
            <a:srgbClr val="8DB8D7">
              <a:alpha val="92000"/>
            </a:srgbClr>
          </a:solidFill>
          <a:ln w="12700">
            <a:solidFill>
              <a:srgbClr val="8DB8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88936" y="2660904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显现旧路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88936" y="29718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旧桥 / 跳台 / 隐藏结构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变成可玩地形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509760" y="2514600"/>
            <a:ext cx="1664208" cy="1005840"/>
          </a:xfrm>
          <a:prstGeom prst="roundRect">
            <a:avLst>
              <a:gd name="adj" fmla="val 7273"/>
            </a:avLst>
          </a:prstGeom>
          <a:solidFill>
            <a:srgbClr val="88B06A">
              <a:alpha val="92000"/>
            </a:srgbClr>
          </a:solidFill>
          <a:ln w="12700">
            <a:solidFill>
              <a:srgbClr val="88B0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37776" y="2660904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37776" y="29718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投剑 / 冲刺 / 火冰魔法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打开更深区域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87752" y="3017520"/>
            <a:ext cx="384048" cy="0"/>
          </a:xfrm>
          <a:prstGeom prst="line">
            <a:avLst/>
          </a:prstGeom>
          <a:noFill/>
          <a:ln w="12700">
            <a:solidFill>
              <a:srgbClr val="E08B3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736592" y="3017520"/>
            <a:ext cx="384048" cy="0"/>
          </a:xfrm>
          <a:prstGeom prst="line">
            <a:avLst/>
          </a:prstGeom>
          <a:noFill/>
          <a:ln w="12700">
            <a:solidFill>
              <a:srgbClr val="E08B35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885432" y="3017520"/>
            <a:ext cx="384048" cy="0"/>
          </a:xfrm>
          <a:prstGeom prst="line">
            <a:avLst/>
          </a:prstGeom>
          <a:noFill/>
          <a:ln w="12700">
            <a:solidFill>
              <a:srgbClr val="E08B3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34272" y="3017520"/>
            <a:ext cx="384048" cy="0"/>
          </a:xfrm>
          <a:prstGeom prst="line">
            <a:avLst/>
          </a:prstGeom>
          <a:noFill/>
          <a:ln w="12700">
            <a:solidFill>
              <a:srgbClr val="E08B3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332720" y="3703320"/>
            <a:ext cx="-8732520" cy="822960"/>
          </a:xfrm>
          <a:prstGeom prst="line">
            <a:avLst/>
          </a:prstGeom>
          <a:noFill/>
          <a:ln w="12700">
            <a:solidFill>
              <a:srgbClr val="7E6C5A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2880360" y="437083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回到早期房间，发现原先不可达路径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14400" y="4983480"/>
            <a:ext cx="4892040" cy="868680"/>
          </a:xfrm>
          <a:prstGeom prst="roundRect">
            <a:avLst>
              <a:gd name="adj" fmla="val 6316"/>
            </a:avLst>
          </a:prstGeom>
          <a:solidFill>
            <a:srgbClr val="301E17">
              <a:alpha val="96000"/>
            </a:srgbClr>
          </a:solidFill>
          <a:ln w="12700">
            <a:solidFill>
              <a:srgbClr val="E08B35">
                <a:alpha val="9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9848" y="5111496"/>
            <a:ext cx="4581144" cy="6492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关键取舍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玩家可以立刻用灰烬回血/放技能，也可以保留灰烬进入灰烬态通过断桥。资源越紧，探索选择越有重量。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4983480"/>
            <a:ext cx="4389120" cy="868680"/>
          </a:xfrm>
          <a:prstGeom prst="roundRect">
            <a:avLst>
              <a:gd name="adj" fmla="val 6316"/>
            </a:avLst>
          </a:prstGeom>
          <a:solidFill>
            <a:srgbClr val="2B211D">
              <a:alpha val="96000"/>
            </a:srgbClr>
          </a:solidFill>
          <a:ln w="12700">
            <a:solidFill>
              <a:srgbClr val="4A3427">
                <a:alpha val="9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64808" y="5111496"/>
            <a:ext cx="4078224" cy="6492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展示时一句话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“打怪不是为了清屏，而是为了把过去临时拉回现在。”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10F"/>
          </a:solidFill>
          <a:ln w="12700">
            <a:solidFill>
              <a:srgbClr val="15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8B35">
              <a:alpha val="92000"/>
            </a:srgbClr>
          </a:solidFill>
          <a:ln w="12700">
            <a:solidFill>
              <a:srgbClr val="E08B3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600000">
            <a:off x="9464040" y="-777240"/>
            <a:ext cx="3200400" cy="3200400"/>
          </a:xfrm>
          <a:prstGeom prst="arc">
            <a:avLst/>
          </a:prstGeom>
          <a:solidFill>
            <a:srgbClr val="15110F">
              <a:alpha val="0"/>
            </a:srgbClr>
          </a:solidFill>
          <a:ln w="12700">
            <a:solidFill>
              <a:srgbClr val="E08B35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6600000">
            <a:off x="9893808" y="-347472"/>
            <a:ext cx="2331720" cy="2331720"/>
          </a:xfrm>
          <a:prstGeom prst="arc">
            <a:avLst/>
          </a:prstGeom>
          <a:solidFill>
            <a:srgbClr val="15110F">
              <a:alpha val="0"/>
            </a:srgbClr>
          </a:solidFill>
          <a:ln w="12700">
            <a:solidFill>
              <a:srgbClr val="F4B15D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9184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GAME DESIGN BRIEF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26880" y="644652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6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灰烬钟塔 / Ashen Clocktower · 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658368"/>
            <a:ext cx="768096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简版策划案：一句话、三支柱、四类玩家动作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76656" y="117043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这页用于回答“这个游戏到底怎么设计”的核心问题。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9808" y="1719072"/>
            <a:ext cx="5120640" cy="987552"/>
          </a:xfrm>
          <a:prstGeom prst="roundRect">
            <a:avLst>
              <a:gd name="adj" fmla="val 5556"/>
            </a:avLst>
          </a:prstGeom>
          <a:solidFill>
            <a:srgbClr val="301E17">
              <a:alpha val="96000"/>
            </a:srgbClr>
          </a:solidFill>
          <a:ln w="12700">
            <a:solidFill>
              <a:srgbClr val="E08B35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1847088"/>
            <a:ext cx="4809744" cy="768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在烧尽的钟塔中，玩家通过战斗收集灰烬，短暂切换到过去状态，让已经消失的平台、桥梁和记忆重新显现。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9808" y="3063240"/>
            <a:ext cx="2103120" cy="347472"/>
          </a:xfrm>
          <a:prstGeom prst="rect">
            <a:avLst/>
          </a:prstGeom>
          <a:solidFill>
            <a:srgbClr val="E08B35"/>
          </a:solidFill>
          <a:ln w="12700">
            <a:solidFill>
              <a:srgbClr val="E08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45536"/>
            <a:ext cx="19568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玩法支柱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852928" y="3063240"/>
            <a:ext cx="3794760" cy="347472"/>
          </a:xfrm>
          <a:prstGeom prst="rect">
            <a:avLst/>
          </a:prstGeom>
          <a:solidFill>
            <a:srgbClr val="E08B35"/>
          </a:solidFill>
          <a:ln w="12700">
            <a:solidFill>
              <a:srgbClr val="E08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3145536"/>
            <a:ext cx="36484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系统目标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47688" y="3063240"/>
            <a:ext cx="4160520" cy="347472"/>
          </a:xfrm>
          <a:prstGeom prst="rect">
            <a:avLst/>
          </a:prstGeom>
          <a:solidFill>
            <a:srgbClr val="E08B35"/>
          </a:solidFill>
          <a:ln w="12700">
            <a:solidFill>
              <a:srgbClr val="E08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3145536"/>
            <a:ext cx="40142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关卡目标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49808" y="3410712"/>
            <a:ext cx="2103120" cy="676656"/>
          </a:xfrm>
          <a:prstGeom prst="rect">
            <a:avLst/>
          </a:prstGeom>
          <a:solidFill>
            <a:srgbClr val="211915"/>
          </a:solidFill>
          <a:ln w="12700">
            <a:solidFill>
              <a:srgbClr val="4A34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529584"/>
            <a:ext cx="188366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B1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动作反馈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52928" y="3410712"/>
            <a:ext cx="3794760" cy="676656"/>
          </a:xfrm>
          <a:prstGeom prst="rect">
            <a:avLst/>
          </a:prstGeom>
          <a:solidFill>
            <a:srgbClr val="211915"/>
          </a:solidFill>
          <a:ln w="12700">
            <a:solidFill>
              <a:srgbClr val="4A34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62656" y="3529584"/>
            <a:ext cx="357530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普通攻击、投剑、冲刺与火冰魔法形成层次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47688" y="3410712"/>
            <a:ext cx="4160520" cy="676656"/>
          </a:xfrm>
          <a:prstGeom prst="rect">
            <a:avLst/>
          </a:prstGeom>
          <a:solidFill>
            <a:srgbClr val="211915"/>
          </a:solidFill>
          <a:ln w="12700">
            <a:solidFill>
              <a:srgbClr val="4A34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57416" y="3529584"/>
            <a:ext cx="394106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用敌人与地形制造短节奏压力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9808" y="4087368"/>
            <a:ext cx="2103120" cy="676656"/>
          </a:xfrm>
          <a:prstGeom prst="rect">
            <a:avLst/>
          </a:prstGeom>
          <a:solidFill>
            <a:srgbClr val="2B211D"/>
          </a:solidFill>
          <a:ln w="12700">
            <a:solidFill>
              <a:srgbClr val="4A34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4206240"/>
            <a:ext cx="188366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B1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资源取舍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852928" y="4087368"/>
            <a:ext cx="3794760" cy="676656"/>
          </a:xfrm>
          <a:prstGeom prst="rect">
            <a:avLst/>
          </a:prstGeom>
          <a:solidFill>
            <a:srgbClr val="2B211D"/>
          </a:solidFill>
          <a:ln w="12700">
            <a:solidFill>
              <a:srgbClr val="4A34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62656" y="4206240"/>
            <a:ext cx="357530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灰烬同时服务输出、续航和切相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647688" y="4087368"/>
            <a:ext cx="4160520" cy="676656"/>
          </a:xfrm>
          <a:prstGeom prst="rect">
            <a:avLst/>
          </a:prstGeom>
          <a:solidFill>
            <a:srgbClr val="2B211D"/>
          </a:solidFill>
          <a:ln w="12700">
            <a:solidFill>
              <a:srgbClr val="4A34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57416" y="4206240"/>
            <a:ext cx="394106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让“是否现在消耗”成为路线选择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49808" y="4764024"/>
            <a:ext cx="2103120" cy="676656"/>
          </a:xfrm>
          <a:prstGeom prst="rect">
            <a:avLst/>
          </a:prstGeom>
          <a:solidFill>
            <a:srgbClr val="211915"/>
          </a:solidFill>
          <a:ln w="12700">
            <a:solidFill>
              <a:srgbClr val="4A34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" y="4882896"/>
            <a:ext cx="188366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B1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过去显现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852928" y="4764024"/>
            <a:ext cx="3794760" cy="676656"/>
          </a:xfrm>
          <a:prstGeom prst="rect">
            <a:avLst/>
          </a:prstGeom>
          <a:solidFill>
            <a:srgbClr val="211915"/>
          </a:solidFill>
          <a:ln w="12700">
            <a:solidFill>
              <a:srgbClr val="4A34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62656" y="4882896"/>
            <a:ext cx="357530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灰烬态改变可通行空间与视觉氛围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47688" y="4764024"/>
            <a:ext cx="4160520" cy="676656"/>
          </a:xfrm>
          <a:prstGeom prst="rect">
            <a:avLst/>
          </a:prstGeom>
          <a:solidFill>
            <a:srgbClr val="211915"/>
          </a:solidFill>
          <a:ln w="12700">
            <a:solidFill>
              <a:srgbClr val="4A34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4882896"/>
            <a:ext cx="394106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断桥、隐藏跳台、旧日长廊承载记忆叙事</a:t>
            </a:r>
            <a:endParaRPr lang="en-US" sz="950" dirty="0"/>
          </a:p>
        </p:txBody>
      </p:sp>
      <p:pic>
        <p:nvPicPr>
          <p:cNvPr id="36" name="Image 0" descr="D:\UNITY2\LearnMetroidvania\Metroidvania\Assets\Animation\Interact\CheckPoint\Bonfire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554480"/>
            <a:ext cx="841248" cy="841248"/>
          </a:xfrm>
          <a:prstGeom prst="rect">
            <a:avLst/>
          </a:prstGeom>
        </p:spPr>
      </p:pic>
      <p:pic>
        <p:nvPicPr>
          <p:cNvPr id="37" name="Image 1" descr="D:\UNITY2\LearnMetroidvania\Metroidvania\Assets\Animation\Interact\Portal\Por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481328"/>
            <a:ext cx="841248" cy="8412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10F"/>
          </a:solidFill>
          <a:ln w="12700">
            <a:solidFill>
              <a:srgbClr val="15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8B35">
              <a:alpha val="92000"/>
            </a:srgbClr>
          </a:solidFill>
          <a:ln w="12700">
            <a:solidFill>
              <a:srgbClr val="E08B3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600000">
            <a:off x="9464040" y="-777240"/>
            <a:ext cx="3200400" cy="3200400"/>
          </a:xfrm>
          <a:prstGeom prst="arc">
            <a:avLst/>
          </a:prstGeom>
          <a:solidFill>
            <a:srgbClr val="15110F">
              <a:alpha val="0"/>
            </a:srgbClr>
          </a:solidFill>
          <a:ln w="12700">
            <a:solidFill>
              <a:srgbClr val="E08B35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6600000">
            <a:off x="9893808" y="-347472"/>
            <a:ext cx="2331720" cy="2331720"/>
          </a:xfrm>
          <a:prstGeom prst="arc">
            <a:avLst/>
          </a:prstGeom>
          <a:solidFill>
            <a:srgbClr val="15110F">
              <a:alpha val="0"/>
            </a:srgbClr>
          </a:solidFill>
          <a:ln w="12700">
            <a:solidFill>
              <a:srgbClr val="F4B15D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9184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PLAYER EXPERIENCE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26880" y="644652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6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灰烬钟塔 / Ashen Clocktower · 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658368"/>
            <a:ext cx="768096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玩家体验路径：从“能打”到“会规划路线”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76656" y="117043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教学段要在短时间内完成移动、战斗、灰烬与切相的认知闭环。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23160" y="2368296"/>
            <a:ext cx="1463040" cy="0"/>
          </a:xfrm>
          <a:prstGeom prst="line">
            <a:avLst/>
          </a:prstGeom>
          <a:noFill/>
          <a:ln w="12700">
            <a:solidFill>
              <a:srgbClr val="4A342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58952" y="1874520"/>
            <a:ext cx="658368" cy="658368"/>
          </a:xfrm>
          <a:prstGeom prst="ellipse">
            <a:avLst/>
          </a:prstGeom>
          <a:solidFill>
            <a:srgbClr val="E08B35"/>
          </a:solidFill>
          <a:ln w="12700">
            <a:solidFill>
              <a:srgbClr val="F4B1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011680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63624" y="18562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抵达荒凉小径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1563624" y="2185416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 / 跳跃 / 受击反馈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08192" y="2368296"/>
            <a:ext cx="1463040" cy="0"/>
          </a:xfrm>
          <a:prstGeom prst="line">
            <a:avLst/>
          </a:prstGeom>
          <a:noFill/>
          <a:ln w="12700">
            <a:solidFill>
              <a:srgbClr val="4A342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43984" y="1874520"/>
            <a:ext cx="658368" cy="658368"/>
          </a:xfrm>
          <a:prstGeom prst="ellipse">
            <a:avLst/>
          </a:prstGeom>
          <a:solidFill>
            <a:srgbClr val="E08B35"/>
          </a:solidFill>
          <a:ln w="12700">
            <a:solidFill>
              <a:srgbClr val="F4B1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3984" y="2011680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48656" y="18562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遭遇小怪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5248656" y="2185416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攻击、击杀、灰烬值上涨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9793224" y="2368296"/>
            <a:ext cx="0" cy="0"/>
          </a:xfrm>
          <a:prstGeom prst="line">
            <a:avLst/>
          </a:prstGeom>
          <a:noFill/>
          <a:ln w="12700">
            <a:solidFill>
              <a:srgbClr val="4A3427"/>
            </a:solidFill>
            <a:prstDash val="solid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8129016" y="1874520"/>
            <a:ext cx="658368" cy="658368"/>
          </a:xfrm>
          <a:prstGeom prst="ellipse">
            <a:avLst/>
          </a:prstGeom>
          <a:solidFill>
            <a:srgbClr val="E08B35"/>
          </a:solidFill>
          <a:ln w="12700">
            <a:solidFill>
              <a:srgbClr val="F4B1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29016" y="2011680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33688" y="18562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发现断桥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8933688" y="2185416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普通态无法通过，形成目标阻挡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2423160" y="4654296"/>
            <a:ext cx="1463040" cy="0"/>
          </a:xfrm>
          <a:prstGeom prst="line">
            <a:avLst/>
          </a:prstGeom>
          <a:noFill/>
          <a:ln w="12700">
            <a:solidFill>
              <a:srgbClr val="4A3427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58952" y="4160520"/>
            <a:ext cx="658368" cy="658368"/>
          </a:xfrm>
          <a:prstGeom prst="ellipse">
            <a:avLst/>
          </a:prstGeom>
          <a:solidFill>
            <a:srgbClr val="E08B35"/>
          </a:solidFill>
          <a:ln w="12700">
            <a:solidFill>
              <a:srgbClr val="F4B1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4297680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63624" y="41422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石碑提示切相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1563624" y="4471416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R 进入灰烬态，旧桥显现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6108192" y="4654296"/>
            <a:ext cx="1463040" cy="0"/>
          </a:xfrm>
          <a:prstGeom prst="line">
            <a:avLst/>
          </a:prstGeom>
          <a:noFill/>
          <a:ln w="12700">
            <a:solidFill>
              <a:srgbClr val="4A3427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443984" y="4160520"/>
            <a:ext cx="658368" cy="658368"/>
          </a:xfrm>
          <a:prstGeom prst="ellipse">
            <a:avLst/>
          </a:prstGeom>
          <a:solidFill>
            <a:srgbClr val="E08B35"/>
          </a:solidFill>
          <a:ln w="12700">
            <a:solidFill>
              <a:srgbClr val="F4B15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43984" y="4297680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48656" y="41422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获得能力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5248656" y="4471416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投剑 / 冲刺扩展路线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9793224" y="4654296"/>
            <a:ext cx="0" cy="0"/>
          </a:xfrm>
          <a:prstGeom prst="line">
            <a:avLst/>
          </a:prstGeom>
          <a:noFill/>
          <a:ln w="12700">
            <a:solidFill>
              <a:srgbClr val="4A3427"/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8129016" y="4160520"/>
            <a:ext cx="658368" cy="658368"/>
          </a:xfrm>
          <a:prstGeom prst="ellipse">
            <a:avLst/>
          </a:prstGeom>
          <a:solidFill>
            <a:srgbClr val="E08B35"/>
          </a:solidFill>
          <a:ln w="12700">
            <a:solidFill>
              <a:srgbClr val="F4B15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29016" y="4297680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933688" y="41422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回到主塔</a:t>
            </a:r>
            <a:endParaRPr lang="en-US" sz="1220" dirty="0"/>
          </a:p>
        </p:txBody>
      </p:sp>
      <p:sp>
        <p:nvSpPr>
          <p:cNvPr id="39" name="Text 37"/>
          <p:cNvSpPr/>
          <p:nvPr/>
        </p:nvSpPr>
        <p:spPr>
          <a:xfrm>
            <a:off x="8933688" y="4471416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用新能力进入 Boss 前区域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1143000" y="5742432"/>
            <a:ext cx="9875520" cy="566928"/>
          </a:xfrm>
          <a:prstGeom prst="roundRect">
            <a:avLst>
              <a:gd name="adj" fmla="val 9677"/>
            </a:avLst>
          </a:prstGeom>
          <a:solidFill>
            <a:srgbClr val="2B211D">
              <a:alpha val="96000"/>
            </a:srgbClr>
          </a:solidFill>
          <a:ln w="12700">
            <a:solidFill>
              <a:srgbClr val="4A3427">
                <a:alpha val="9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98448" y="5870448"/>
            <a:ext cx="956462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每次给玩家一个明确阻挡，再用灰烬/能力给出解决方式。教学不是弹窗说明，而是“看到做不到 → 获得线索 → 亲手通过”。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10F"/>
          </a:solidFill>
          <a:ln w="12700">
            <a:solidFill>
              <a:srgbClr val="15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8B35">
              <a:alpha val="92000"/>
            </a:srgbClr>
          </a:solidFill>
          <a:ln w="12700">
            <a:solidFill>
              <a:srgbClr val="E08B3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600000">
            <a:off x="9464040" y="-777240"/>
            <a:ext cx="3200400" cy="3200400"/>
          </a:xfrm>
          <a:prstGeom prst="arc">
            <a:avLst/>
          </a:prstGeom>
          <a:solidFill>
            <a:srgbClr val="15110F">
              <a:alpha val="0"/>
            </a:srgbClr>
          </a:solidFill>
          <a:ln w="12700">
            <a:solidFill>
              <a:srgbClr val="E08B35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6600000">
            <a:off x="9893808" y="-347472"/>
            <a:ext cx="2331720" cy="2331720"/>
          </a:xfrm>
          <a:prstGeom prst="arc">
            <a:avLst/>
          </a:prstGeom>
          <a:solidFill>
            <a:srgbClr val="15110F">
              <a:alpha val="0"/>
            </a:srgbClr>
          </a:solidFill>
          <a:ln w="12700">
            <a:solidFill>
              <a:srgbClr val="F4B15D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9184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BREAKDOWN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26880" y="644652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6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灰烬钟塔 / Ashen Clocktower · 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658368"/>
            <a:ext cx="768096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系统拆解：灰烬态让“过去”成为可玩的地形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76656" y="117043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四个系统互相扣住：数值、状态、视觉和叙事共同服务同一动作。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6384" y="1847088"/>
            <a:ext cx="4828032" cy="1234440"/>
          </a:xfrm>
          <a:prstGeom prst="roundRect">
            <a:avLst>
              <a:gd name="adj" fmla="val 5185"/>
            </a:avLst>
          </a:prstGeom>
          <a:solidFill>
            <a:srgbClr val="211915"/>
          </a:solidFill>
          <a:ln w="12700">
            <a:solidFill>
              <a:srgbClr val="E08B35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1847088"/>
            <a:ext cx="109728" cy="1234440"/>
          </a:xfrm>
          <a:prstGeom prst="rect">
            <a:avLst/>
          </a:prstGeom>
          <a:solidFill>
            <a:srgbClr val="E08B35"/>
          </a:solidFill>
          <a:ln w="12700">
            <a:solidFill>
              <a:srgbClr val="E08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0482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1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灰烬系统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2423160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攻击命中与击杀敌人获得灰烬；技能、回血与切相消耗灰烬。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227064" y="1847088"/>
            <a:ext cx="4828032" cy="1234440"/>
          </a:xfrm>
          <a:prstGeom prst="roundRect">
            <a:avLst>
              <a:gd name="adj" fmla="val 5185"/>
            </a:avLst>
          </a:prstGeom>
          <a:solidFill>
            <a:srgbClr val="211915"/>
          </a:solidFill>
          <a:ln w="12700">
            <a:solidFill>
              <a:srgbClr val="F4B15D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27064" y="1847088"/>
            <a:ext cx="109728" cy="1234440"/>
          </a:xfrm>
          <a:prstGeom prst="rect">
            <a:avLst/>
          </a:prstGeom>
          <a:solidFill>
            <a:srgbClr val="F4B15D"/>
          </a:solidFill>
          <a:ln w="12700">
            <a:solidFill>
              <a:srgbClr val="F4B1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20482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1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切相系统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19672" y="2423160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R 进入灰烬态；灰烬态下旧桥、跳台与隐藏结构显现。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86384" y="3730752"/>
            <a:ext cx="4828032" cy="1234440"/>
          </a:xfrm>
          <a:prstGeom prst="roundRect">
            <a:avLst>
              <a:gd name="adj" fmla="val 5185"/>
            </a:avLst>
          </a:prstGeom>
          <a:solidFill>
            <a:srgbClr val="211915"/>
          </a:solidFill>
          <a:ln w="12700">
            <a:solidFill>
              <a:srgbClr val="8DB8D7">
                <a:alpha val="9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" y="3730752"/>
            <a:ext cx="109728" cy="1234440"/>
          </a:xfrm>
          <a:prstGeom prst="rect">
            <a:avLst/>
          </a:prstGeom>
          <a:solidFill>
            <a:srgbClr val="8DB8D7"/>
          </a:solidFill>
          <a:ln w="12700">
            <a:solidFill>
              <a:srgbClr val="8DB8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39319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1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灰烬态视觉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78992" y="4306824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画面变暗、橙黄色滤镜、灰烬粒子飘动，帮助玩家区分状态。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227064" y="3730752"/>
            <a:ext cx="4828032" cy="1234440"/>
          </a:xfrm>
          <a:prstGeom prst="roundRect">
            <a:avLst>
              <a:gd name="adj" fmla="val 5185"/>
            </a:avLst>
          </a:prstGeom>
          <a:solidFill>
            <a:srgbClr val="211915"/>
          </a:solidFill>
          <a:ln w="12700">
            <a:solidFill>
              <a:srgbClr val="88B06A">
                <a:alpha val="9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27064" y="3730752"/>
            <a:ext cx="109728" cy="1234440"/>
          </a:xfrm>
          <a:prstGeom prst="rect">
            <a:avLst/>
          </a:prstGeom>
          <a:solidFill>
            <a:srgbClr val="88B06A"/>
          </a:solidFill>
          <a:ln w="12700">
            <a:solidFill>
              <a:srgbClr val="88B0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9672" y="39319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1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叙事触发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19672" y="4306824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路过石碑或残响点弹出文本，用短句铺设世界观和机制提示。</a:t>
            </a:r>
            <a:endParaRPr lang="en-US" sz="1020" dirty="0"/>
          </a:p>
        </p:txBody>
      </p:sp>
      <p:pic>
        <p:nvPicPr>
          <p:cNvPr id="26" name="Image 0" descr="D:\UNITY2\LearnMetroidvania\Metroidvania\Assets\Animation\FX\Particles\fi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5431536"/>
            <a:ext cx="384048" cy="38404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68680" y="5559552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钟、灰烬、残响、过去结构：所有视觉符号都回到“时间未熄灭”的主题。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10F"/>
          </a:solidFill>
          <a:ln w="12700">
            <a:solidFill>
              <a:srgbClr val="15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8B35">
              <a:alpha val="92000"/>
            </a:srgbClr>
          </a:solidFill>
          <a:ln w="12700">
            <a:solidFill>
              <a:srgbClr val="E08B3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600000">
            <a:off x="9464040" y="-777240"/>
            <a:ext cx="3200400" cy="3200400"/>
          </a:xfrm>
          <a:prstGeom prst="arc">
            <a:avLst/>
          </a:prstGeom>
          <a:solidFill>
            <a:srgbClr val="15110F">
              <a:alpha val="0"/>
            </a:srgbClr>
          </a:solidFill>
          <a:ln w="12700">
            <a:solidFill>
              <a:srgbClr val="E08B35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6600000">
            <a:off x="9893808" y="-347472"/>
            <a:ext cx="2331720" cy="2331720"/>
          </a:xfrm>
          <a:prstGeom prst="arc">
            <a:avLst/>
          </a:prstGeom>
          <a:solidFill>
            <a:srgbClr val="15110F">
              <a:alpha val="0"/>
            </a:srgbClr>
          </a:solidFill>
          <a:ln w="12700">
            <a:solidFill>
              <a:srgbClr val="F4B15D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9184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DESIGN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26880" y="644652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6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灰烬钟塔 / Ashen Clocktower · 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658368"/>
            <a:ext cx="768096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关卡蓝图：房间式结构 + 传送门连接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76656" y="117043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地图按可教学、可回环、可扩展三类需求组织。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41248" y="2606040"/>
            <a:ext cx="1170432" cy="658368"/>
          </a:xfrm>
          <a:prstGeom prst="roundRect">
            <a:avLst>
              <a:gd name="adj" fmla="val 8333"/>
            </a:avLst>
          </a:prstGeom>
          <a:solidFill>
            <a:srgbClr val="7E6C5A">
              <a:alpha val="88000"/>
            </a:srgbClr>
          </a:solidFill>
          <a:ln w="12700">
            <a:solidFill>
              <a:srgbClr val="7E6C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15768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荒凉小径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2176272" y="2606040"/>
            <a:ext cx="1170432" cy="658368"/>
          </a:xfrm>
          <a:prstGeom prst="roundRect">
            <a:avLst>
              <a:gd name="adj" fmla="val 8333"/>
            </a:avLst>
          </a:prstGeom>
          <a:solidFill>
            <a:srgbClr val="E08B35">
              <a:alpha val="88000"/>
            </a:srgbClr>
          </a:solidFill>
          <a:ln w="12700">
            <a:solidFill>
              <a:srgbClr val="E08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9424" y="2715768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断桥教学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3602736" y="2606040"/>
            <a:ext cx="1170432" cy="658368"/>
          </a:xfrm>
          <a:prstGeom prst="roundRect">
            <a:avLst>
              <a:gd name="adj" fmla="val 8333"/>
            </a:avLst>
          </a:prstGeom>
          <a:solidFill>
            <a:srgbClr val="7E6C5A">
              <a:alpha val="88000"/>
            </a:srgbClr>
          </a:solidFill>
          <a:ln w="12700">
            <a:solidFill>
              <a:srgbClr val="7E6C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75888" y="2715768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钟塔前庭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5074920" y="2606040"/>
            <a:ext cx="1170432" cy="658368"/>
          </a:xfrm>
          <a:prstGeom prst="roundRect">
            <a:avLst>
              <a:gd name="adj" fmla="val 8333"/>
            </a:avLst>
          </a:prstGeom>
          <a:solidFill>
            <a:srgbClr val="F4B15D">
              <a:alpha val="88000"/>
            </a:srgbClr>
          </a:solidFill>
          <a:ln w="12700">
            <a:solidFill>
              <a:srgbClr val="F4B1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2715768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钟塔大厅 Hub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6729984" y="1600200"/>
            <a:ext cx="1170432" cy="658368"/>
          </a:xfrm>
          <a:prstGeom prst="roundRect">
            <a:avLst>
              <a:gd name="adj" fmla="val 8333"/>
            </a:avLst>
          </a:prstGeom>
          <a:solidFill>
            <a:srgbClr val="8DB8D7">
              <a:alpha val="88000"/>
            </a:srgbClr>
          </a:solidFill>
          <a:ln w="12700">
            <a:solidFill>
              <a:srgbClr val="8DB8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1709928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齿轮廊道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冲刺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6729984" y="3611880"/>
            <a:ext cx="1170432" cy="658368"/>
          </a:xfrm>
          <a:prstGeom prst="roundRect">
            <a:avLst>
              <a:gd name="adj" fmla="val 8333"/>
            </a:avLst>
          </a:prstGeom>
          <a:solidFill>
            <a:srgbClr val="B8583E">
              <a:alpha val="88000"/>
            </a:srgbClr>
          </a:solidFill>
          <a:ln w="12700">
            <a:solidFill>
              <a:srgbClr val="B858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3721608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熔灰工坊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火魔法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8229600" y="1600200"/>
            <a:ext cx="1170432" cy="658368"/>
          </a:xfrm>
          <a:prstGeom prst="roundRect">
            <a:avLst>
              <a:gd name="adj" fmla="val 8333"/>
            </a:avLst>
          </a:prstGeom>
          <a:solidFill>
            <a:srgbClr val="8DB8D7">
              <a:alpha val="88000"/>
            </a:srgbClr>
          </a:solidFill>
          <a:ln w="12700">
            <a:solidFill>
              <a:srgbClr val="8DB8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02752" y="1709928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静霜钟室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冰魔法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8229600" y="3611880"/>
            <a:ext cx="1170432" cy="658368"/>
          </a:xfrm>
          <a:prstGeom prst="roundRect">
            <a:avLst>
              <a:gd name="adj" fmla="val 8333"/>
            </a:avLst>
          </a:prstGeom>
          <a:solidFill>
            <a:srgbClr val="88B06A">
              <a:alpha val="88000"/>
            </a:srgbClr>
          </a:solidFill>
          <a:ln w="12700">
            <a:solidFill>
              <a:srgbClr val="88B0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02752" y="3721608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旧日长廊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赐福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9893808" y="2606040"/>
            <a:ext cx="1170432" cy="658368"/>
          </a:xfrm>
          <a:prstGeom prst="roundRect">
            <a:avLst>
              <a:gd name="adj" fmla="val 8333"/>
            </a:avLst>
          </a:prstGeom>
          <a:solidFill>
            <a:srgbClr val="E08B35">
              <a:alpha val="88000"/>
            </a:srgbClr>
          </a:solidFill>
          <a:ln w="12700">
            <a:solidFill>
              <a:srgbClr val="E08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66960" y="2715768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主塔登顶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2011680" y="2935224"/>
            <a:ext cx="164592" cy="0"/>
          </a:xfrm>
          <a:prstGeom prst="line">
            <a:avLst/>
          </a:prstGeom>
          <a:noFill/>
          <a:ln w="12700">
            <a:solidFill>
              <a:srgbClr val="4A3427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346704" y="2935224"/>
            <a:ext cx="256032" cy="0"/>
          </a:xfrm>
          <a:prstGeom prst="line">
            <a:avLst/>
          </a:prstGeom>
          <a:noFill/>
          <a:ln w="12700">
            <a:solidFill>
              <a:srgbClr val="4A3427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773168" y="2935224"/>
            <a:ext cx="301752" cy="0"/>
          </a:xfrm>
          <a:prstGeom prst="line">
            <a:avLst/>
          </a:prstGeom>
          <a:noFill/>
          <a:ln w="12700">
            <a:solidFill>
              <a:srgbClr val="4A3427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245352" y="2788920"/>
            <a:ext cx="484632" cy="-859536"/>
          </a:xfrm>
          <a:prstGeom prst="line">
            <a:avLst/>
          </a:prstGeom>
          <a:noFill/>
          <a:ln w="12700">
            <a:solidFill>
              <a:srgbClr val="4A3427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245352" y="3063240"/>
            <a:ext cx="484632" cy="877824"/>
          </a:xfrm>
          <a:prstGeom prst="line">
            <a:avLst/>
          </a:prstGeom>
          <a:noFill/>
          <a:ln w="12700">
            <a:solidFill>
              <a:srgbClr val="4A3427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900416" y="1929384"/>
            <a:ext cx="329184" cy="0"/>
          </a:xfrm>
          <a:prstGeom prst="line">
            <a:avLst/>
          </a:prstGeom>
          <a:noFill/>
          <a:ln w="12700">
            <a:solidFill>
              <a:srgbClr val="4A3427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900416" y="3941064"/>
            <a:ext cx="329184" cy="0"/>
          </a:xfrm>
          <a:prstGeom prst="line">
            <a:avLst/>
          </a:prstGeom>
          <a:noFill/>
          <a:ln w="12700">
            <a:solidFill>
              <a:srgbClr val="4A3427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400032" y="1929384"/>
            <a:ext cx="493776" cy="859536"/>
          </a:xfrm>
          <a:prstGeom prst="line">
            <a:avLst/>
          </a:prstGeom>
          <a:noFill/>
          <a:ln w="12700">
            <a:solidFill>
              <a:srgbClr val="4A3427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400032" y="3941064"/>
            <a:ext cx="493776" cy="-877824"/>
          </a:xfrm>
          <a:prstGeom prst="line">
            <a:avLst/>
          </a:prstGeom>
          <a:noFill/>
          <a:ln w="12700">
            <a:solidFill>
              <a:srgbClr val="4A3427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14400" y="5257800"/>
            <a:ext cx="4937760" cy="713232"/>
          </a:xfrm>
          <a:prstGeom prst="roundRect">
            <a:avLst>
              <a:gd name="adj" fmla="val 7692"/>
            </a:avLst>
          </a:prstGeom>
          <a:solidFill>
            <a:srgbClr val="2B211D">
              <a:alpha val="96000"/>
            </a:srgbClr>
          </a:solidFill>
          <a:ln w="12700">
            <a:solidFill>
              <a:srgbClr val="4A3427">
                <a:alpha val="9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9848" y="5385816"/>
            <a:ext cx="4626864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蓝图工具目标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每个房间独立绘制，出入口统一用传送门连接；后续可以把教学房、能力房、Boss 房拆成可复用模块。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63640" y="5257800"/>
            <a:ext cx="4709160" cy="713232"/>
          </a:xfrm>
          <a:prstGeom prst="roundRect">
            <a:avLst>
              <a:gd name="adj" fmla="val 7692"/>
            </a:avLst>
          </a:prstGeom>
          <a:solidFill>
            <a:srgbClr val="2E1D16">
              <a:alpha val="96000"/>
            </a:srgbClr>
          </a:solidFill>
          <a:ln w="12700">
            <a:solidFill>
              <a:srgbClr val="E08B35">
                <a:alpha val="9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19088" y="5385816"/>
            <a:ext cx="4398264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课程展示重点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展示“断桥切相”这条最短体验闭环，再用地图蓝图说明它可以扩展成完整类银河恶魔城结构。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10F"/>
          </a:solidFill>
          <a:ln w="12700">
            <a:solidFill>
              <a:srgbClr val="15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8B35">
              <a:alpha val="92000"/>
            </a:srgbClr>
          </a:solidFill>
          <a:ln w="12700">
            <a:solidFill>
              <a:srgbClr val="E08B3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600000">
            <a:off x="9464040" y="-777240"/>
            <a:ext cx="3200400" cy="3200400"/>
          </a:xfrm>
          <a:prstGeom prst="arc">
            <a:avLst/>
          </a:prstGeom>
          <a:solidFill>
            <a:srgbClr val="15110F">
              <a:alpha val="0"/>
            </a:srgbClr>
          </a:solidFill>
          <a:ln w="12700">
            <a:solidFill>
              <a:srgbClr val="E08B35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6600000">
            <a:off x="9893808" y="-347472"/>
            <a:ext cx="2331720" cy="2331720"/>
          </a:xfrm>
          <a:prstGeom prst="arc">
            <a:avLst/>
          </a:prstGeom>
          <a:solidFill>
            <a:srgbClr val="15110F">
              <a:alpha val="0"/>
            </a:srgbClr>
          </a:solidFill>
          <a:ln w="12700">
            <a:solidFill>
              <a:srgbClr val="F4B15D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9184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 PLAN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26880" y="644652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6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灰烬钟塔 / Ashen Clocktower · 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658368"/>
            <a:ext cx="768096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内容推进：剧情、能力、关卡在同一条登塔线上收束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76656" y="117043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不是单独讲故事，而是让每段剧情都解释一种新的可玩规则。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4944" y="2267712"/>
            <a:ext cx="384048" cy="384048"/>
          </a:xfrm>
          <a:prstGeom prst="ellipse">
            <a:avLst/>
          </a:prstGeom>
          <a:solidFill>
            <a:srgbClr val="2B211D"/>
          </a:solidFill>
          <a:ln w="12700">
            <a:solidFill>
              <a:srgbClr val="E08B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8136" y="2459736"/>
            <a:ext cx="1170432" cy="777240"/>
          </a:xfrm>
          <a:prstGeom prst="line">
            <a:avLst/>
          </a:prstGeom>
          <a:noFill/>
          <a:ln w="12700">
            <a:solidFill>
              <a:srgbClr val="4A3427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03504" y="277063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B1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3776" y="3054096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远行者抵达钟塔，进入荒野小径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267712" y="3044952"/>
            <a:ext cx="384048" cy="384048"/>
          </a:xfrm>
          <a:prstGeom prst="ellipse">
            <a:avLst/>
          </a:prstGeom>
          <a:solidFill>
            <a:srgbClr val="2B211D"/>
          </a:solidFill>
          <a:ln w="12700">
            <a:solidFill>
              <a:srgbClr val="E08B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60904" y="3236976"/>
            <a:ext cx="1170432" cy="-777240"/>
          </a:xfrm>
          <a:prstGeom prst="line">
            <a:avLst/>
          </a:prstGeom>
          <a:noFill/>
          <a:ln w="12700">
            <a:solidFill>
              <a:srgbClr val="4A3427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176272" y="354787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B1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066544" y="3831336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击杀小怪、篝火休整、首次获得灰烬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3840480" y="2267712"/>
            <a:ext cx="384048" cy="384048"/>
          </a:xfrm>
          <a:prstGeom prst="ellipse">
            <a:avLst/>
          </a:prstGeom>
          <a:solidFill>
            <a:srgbClr val="2B211D"/>
          </a:solidFill>
          <a:ln w="12700">
            <a:solidFill>
              <a:srgbClr val="E08B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33672" y="2459736"/>
            <a:ext cx="1170432" cy="777240"/>
          </a:xfrm>
          <a:prstGeom prst="line">
            <a:avLst/>
          </a:prstGeom>
          <a:noFill/>
          <a:ln w="12700">
            <a:solidFill>
              <a:srgbClr val="4A3427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749040" y="277063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B1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灰烬态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9312" y="3054096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断桥受阻，石碑提示切相，旧桥显现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5413248" y="3044952"/>
            <a:ext cx="384048" cy="384048"/>
          </a:xfrm>
          <a:prstGeom prst="ellipse">
            <a:avLst/>
          </a:prstGeom>
          <a:solidFill>
            <a:srgbClr val="2B211D"/>
          </a:solidFill>
          <a:ln w="12700">
            <a:solidFill>
              <a:srgbClr val="E08B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06440" y="3236976"/>
            <a:ext cx="1170432" cy="-777240"/>
          </a:xfrm>
          <a:prstGeom prst="line">
            <a:avLst/>
          </a:prstGeom>
          <a:noFill/>
          <a:ln w="12700">
            <a:solidFill>
              <a:srgbClr val="4A3427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321808" y="354787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B1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入塔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12080" y="3831336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获得投掷宝剑，打开钟塔入口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6986016" y="2267712"/>
            <a:ext cx="384048" cy="384048"/>
          </a:xfrm>
          <a:prstGeom prst="ellipse">
            <a:avLst/>
          </a:prstGeom>
          <a:solidFill>
            <a:srgbClr val="2B211D"/>
          </a:solidFill>
          <a:ln w="12700">
            <a:solidFill>
              <a:srgbClr val="E08B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79208" y="2459736"/>
            <a:ext cx="1170432" cy="777240"/>
          </a:xfrm>
          <a:prstGeom prst="line">
            <a:avLst/>
          </a:prstGeom>
          <a:noFill/>
          <a:ln w="12700">
            <a:solidFill>
              <a:srgbClr val="4A3427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894576" y="277063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B1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84848" y="3054096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冲刺 / 火 / 冰逐步解锁，理解钟塔真相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8558784" y="3044952"/>
            <a:ext cx="384048" cy="384048"/>
          </a:xfrm>
          <a:prstGeom prst="ellipse">
            <a:avLst/>
          </a:prstGeom>
          <a:solidFill>
            <a:srgbClr val="2B211D"/>
          </a:solidFill>
          <a:ln w="12700">
            <a:solidFill>
              <a:srgbClr val="E08B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51976" y="3236976"/>
            <a:ext cx="1170432" cy="-777240"/>
          </a:xfrm>
          <a:prstGeom prst="line">
            <a:avLst/>
          </a:prstGeom>
          <a:noFill/>
          <a:ln w="12700">
            <a:solidFill>
              <a:srgbClr val="4A3427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8467344" y="354787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B1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赐福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357616" y="3831336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旧日长廊回应，灰烬态不再消耗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10131552" y="2267712"/>
            <a:ext cx="384048" cy="384048"/>
          </a:xfrm>
          <a:prstGeom prst="ellipse">
            <a:avLst/>
          </a:prstGeom>
          <a:solidFill>
            <a:srgbClr val="E08B35"/>
          </a:solidFill>
          <a:ln w="12700">
            <a:solidFill>
              <a:srgbClr val="E08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40112" y="277063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B1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终局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930384" y="3054096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攀上塔顶，与守护者 Boss 战斗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932688" y="5074920"/>
            <a:ext cx="5074920" cy="804672"/>
          </a:xfrm>
          <a:prstGeom prst="roundRect">
            <a:avLst>
              <a:gd name="adj" fmla="val 6818"/>
            </a:avLst>
          </a:prstGeom>
          <a:solidFill>
            <a:srgbClr val="301E17">
              <a:alpha val="96000"/>
            </a:srgbClr>
          </a:solidFill>
          <a:ln w="12700">
            <a:solidFill>
              <a:srgbClr val="E08B35">
                <a:alpha val="9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88136" y="5202936"/>
            <a:ext cx="4764024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旧日长廊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承载好友昵称、头像、寄语与 BGM，作为“记忆的灰烬”；它也是灰烬态机制的情感解释。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82512" y="5074920"/>
            <a:ext cx="4526280" cy="804672"/>
          </a:xfrm>
          <a:prstGeom prst="roundRect">
            <a:avLst>
              <a:gd name="adj" fmla="val 6818"/>
            </a:avLst>
          </a:prstGeom>
          <a:solidFill>
            <a:srgbClr val="2B211D">
              <a:alpha val="96000"/>
            </a:srgbClr>
          </a:solidFill>
          <a:ln w="12700">
            <a:solidFill>
              <a:srgbClr val="4A3427">
                <a:alpha val="9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5202936"/>
            <a:ext cx="4215384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 前收束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前面学习的移动、灰烬取舍、切相观察、能力使用都会在塔顶战斗前得到回收。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10F"/>
          </a:solidFill>
          <a:ln w="12700">
            <a:solidFill>
              <a:srgbClr val="15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8B35">
              <a:alpha val="92000"/>
            </a:srgbClr>
          </a:solidFill>
          <a:ln w="12700">
            <a:solidFill>
              <a:srgbClr val="E08B3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600000">
            <a:off x="9464040" y="-777240"/>
            <a:ext cx="3200400" cy="3200400"/>
          </a:xfrm>
          <a:prstGeom prst="arc">
            <a:avLst/>
          </a:prstGeom>
          <a:solidFill>
            <a:srgbClr val="15110F">
              <a:alpha val="0"/>
            </a:srgbClr>
          </a:solidFill>
          <a:ln w="12700">
            <a:solidFill>
              <a:srgbClr val="E08B35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6600000">
            <a:off x="9893808" y="-347472"/>
            <a:ext cx="2331720" cy="2331720"/>
          </a:xfrm>
          <a:prstGeom prst="arc">
            <a:avLst/>
          </a:prstGeom>
          <a:solidFill>
            <a:srgbClr val="15110F">
              <a:alpha val="0"/>
            </a:srgbClr>
          </a:solidFill>
          <a:ln w="12700">
            <a:solidFill>
              <a:srgbClr val="F4B15D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9184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IMPLEMENTATION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26880" y="644652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6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灰烬钟塔 / Ashen Clocktower · 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658368"/>
            <a:ext cx="768096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实现成果：已能支撑一次完整课堂演示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76656" y="117043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把功能按“可演示、正在推进、下一步”三层讲清楚，评委更容易判断完成度。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8096" y="1901952"/>
            <a:ext cx="3246120" cy="3456432"/>
          </a:xfrm>
          <a:prstGeom prst="roundRect">
            <a:avLst>
              <a:gd name="adj" fmla="val 1972"/>
            </a:avLst>
          </a:prstGeom>
          <a:solidFill>
            <a:srgbClr val="211915"/>
          </a:solidFill>
          <a:ln w="12700">
            <a:solidFill>
              <a:srgbClr val="88B0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121408"/>
            <a:ext cx="285292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1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/ 已有雏形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8136" y="2670048"/>
            <a:ext cx="260604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98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灰烬系统与灰烬值 UI</a:t>
            </a:r>
            <a:endParaRPr lang="en-US" sz="980" dirty="0"/>
          </a:p>
          <a:p>
            <a:r>
              <a:rPr lang="en-US" sz="98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切相系统与灰烬态物体</a:t>
            </a:r>
            <a:endParaRPr lang="en-US" sz="980" dirty="0"/>
          </a:p>
          <a:p>
            <a:r>
              <a:rPr lang="en-US" sz="98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基础战斗、敌人、Boss 资源</a:t>
            </a:r>
            <a:endParaRPr lang="en-US" sz="980" dirty="0"/>
          </a:p>
          <a:p>
            <a:r>
              <a:rPr lang="en-US" sz="98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中文菜单、对话/石碑触发</a:t>
            </a:r>
            <a:endParaRPr lang="en-US" sz="980" dirty="0"/>
          </a:p>
          <a:p>
            <a:r>
              <a:rPr lang="en-US" sz="98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宣传海报与房间蓝图工具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471416" y="1901952"/>
            <a:ext cx="3246120" cy="3456432"/>
          </a:xfrm>
          <a:prstGeom prst="roundRect">
            <a:avLst>
              <a:gd name="adj" fmla="val 1972"/>
            </a:avLst>
          </a:prstGeom>
          <a:solidFill>
            <a:srgbClr val="211915"/>
          </a:solidFill>
          <a:ln w="12700">
            <a:solidFill>
              <a:srgbClr val="E08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4296" y="2121408"/>
            <a:ext cx="285292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1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正在推进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91456" y="2670048"/>
            <a:ext cx="260604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98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精细化房间蓝图</a:t>
            </a:r>
            <a:endParaRPr lang="en-US" sz="980" dirty="0"/>
          </a:p>
          <a:p>
            <a:r>
              <a:rPr lang="en-US" sz="98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单向平台与隐藏路径</a:t>
            </a:r>
            <a:endParaRPr lang="en-US" sz="980" dirty="0"/>
          </a:p>
          <a:p>
            <a:r>
              <a:rPr lang="en-US" sz="98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旧日长廊内容征集</a:t>
            </a:r>
            <a:endParaRPr lang="en-US" sz="980" dirty="0"/>
          </a:p>
          <a:p>
            <a:r>
              <a:rPr lang="en-US" sz="98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能力获取提示文案</a:t>
            </a:r>
            <a:endParaRPr lang="en-US" sz="980" dirty="0"/>
          </a:p>
          <a:p>
            <a:r>
              <a:rPr lang="en-US" sz="98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关键资产制作与替换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8174736" y="1901952"/>
            <a:ext cx="3246120" cy="3456432"/>
          </a:xfrm>
          <a:prstGeom prst="roundRect">
            <a:avLst>
              <a:gd name="adj" fmla="val 1972"/>
            </a:avLst>
          </a:prstGeom>
          <a:solidFill>
            <a:srgbClr val="211915"/>
          </a:solidFill>
          <a:ln w="12700">
            <a:solidFill>
              <a:srgbClr val="F4B1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7616" y="2121408"/>
            <a:ext cx="285292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1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下一步重点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94776" y="2670048"/>
            <a:ext cx="260604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98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打通 Demo 主路径</a:t>
            </a:r>
            <a:endParaRPr lang="en-US" sz="980" dirty="0"/>
          </a:p>
          <a:p>
            <a:r>
              <a:rPr lang="en-US" sz="98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荒凉小径 → 断桥切相</a:t>
            </a:r>
            <a:endParaRPr lang="en-US" sz="980" dirty="0"/>
          </a:p>
          <a:p>
            <a:r>
              <a:rPr lang="en-US" sz="98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塔前战斗 → 投剑入塔</a:t>
            </a:r>
            <a:endParaRPr lang="en-US" sz="980" dirty="0"/>
          </a:p>
          <a:p>
            <a:r>
              <a:rPr lang="en-US" sz="98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主塔登顶预览</a:t>
            </a:r>
            <a:endParaRPr lang="en-US" sz="980" dirty="0"/>
          </a:p>
          <a:p>
            <a:r>
              <a:rPr lang="en-US" sz="98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录制 60-90 秒展示视频</a:t>
            </a:r>
            <a:endParaRPr lang="en-US" sz="980" dirty="0"/>
          </a:p>
        </p:txBody>
      </p:sp>
      <p:pic>
        <p:nvPicPr>
          <p:cNvPr id="19" name="Image 0" descr="D:\UNITY2\LearnMetroidvania\Metroidvania\Assets\Animation\Interact\AblityActivators\DashActivator\Hermes_Bo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5559552"/>
            <a:ext cx="347472" cy="347472"/>
          </a:xfrm>
          <a:prstGeom prst="rect">
            <a:avLst/>
          </a:prstGeom>
        </p:spPr>
      </p:pic>
      <p:pic>
        <p:nvPicPr>
          <p:cNvPr id="20" name="Image 1" descr="D:\UNITY2\LearnMetroidvania\Metroidvania\Assets\Animation\Interact\AblityActivators\DashActivator\BootsF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5559552"/>
            <a:ext cx="347472" cy="34747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920240" y="5623560"/>
            <a:ext cx="81838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课程展示目标：让评委在 3 分钟内理解“灰烬”如何同时驱动战斗、探索、叙事与关卡设计。</a:t>
            </a:r>
            <a:endParaRPr lang="en-US" sz="11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10F"/>
          </a:solidFill>
          <a:ln w="12700">
            <a:solidFill>
              <a:srgbClr val="15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8B35">
              <a:alpha val="92000"/>
            </a:srgbClr>
          </a:solidFill>
          <a:ln w="12700">
            <a:solidFill>
              <a:srgbClr val="E08B3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600000">
            <a:off x="9464040" y="-777240"/>
            <a:ext cx="3200400" cy="3200400"/>
          </a:xfrm>
          <a:prstGeom prst="arc">
            <a:avLst/>
          </a:prstGeom>
          <a:solidFill>
            <a:srgbClr val="15110F">
              <a:alpha val="0"/>
            </a:srgbClr>
          </a:solidFill>
          <a:ln w="12700">
            <a:solidFill>
              <a:srgbClr val="E08B35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6600000">
            <a:off x="9893808" y="-347472"/>
            <a:ext cx="2331720" cy="2331720"/>
          </a:xfrm>
          <a:prstGeom prst="arc">
            <a:avLst/>
          </a:prstGeom>
          <a:solidFill>
            <a:srgbClr val="15110F">
              <a:alpha val="0"/>
            </a:srgbClr>
          </a:solidFill>
          <a:ln w="12700">
            <a:solidFill>
              <a:srgbClr val="F4B15D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9184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SCRIPT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26880" y="644652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6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灰烬钟塔 / Ashen Clocktower · 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658368"/>
            <a:ext cx="768096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课堂演示脚本：90 秒跑完完整体验闭环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76656" y="117043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这页可以作为正式演讲时的后台提词，也能指导录屏素材怎么剪。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41248" y="1737360"/>
            <a:ext cx="1051560" cy="457200"/>
          </a:xfrm>
          <a:prstGeom prst="rect">
            <a:avLst/>
          </a:prstGeom>
          <a:solidFill>
            <a:srgbClr val="2B211D"/>
          </a:solidFill>
          <a:ln w="12700">
            <a:solidFill>
              <a:srgbClr val="4A34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74520"/>
            <a:ext cx="8961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B1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00-15s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39696" y="17830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主菜单与开场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69080" y="1801368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展示标题、开场文字、玩家落地与基础移动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1371600" y="2194560"/>
            <a:ext cx="0" cy="292608"/>
          </a:xfrm>
          <a:prstGeom prst="line">
            <a:avLst/>
          </a:prstGeom>
          <a:noFill/>
          <a:ln w="12700">
            <a:solidFill>
              <a:srgbClr val="4A342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41248" y="2487168"/>
            <a:ext cx="1051560" cy="457200"/>
          </a:xfrm>
          <a:prstGeom prst="rect">
            <a:avLst/>
          </a:prstGeom>
          <a:solidFill>
            <a:srgbClr val="2B211D"/>
          </a:solidFill>
          <a:ln w="12700">
            <a:solidFill>
              <a:srgbClr val="4A34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624328"/>
            <a:ext cx="8961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B1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15-35s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39696" y="25328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战斗与灰烬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69080" y="2551176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击杀小怪，灰烬值 UI 上涨，篝火点短暂停留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1371600" y="2944368"/>
            <a:ext cx="0" cy="292608"/>
          </a:xfrm>
          <a:prstGeom prst="line">
            <a:avLst/>
          </a:prstGeom>
          <a:noFill/>
          <a:ln w="12700">
            <a:solidFill>
              <a:srgbClr val="4A342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41248" y="3236976"/>
            <a:ext cx="1051560" cy="457200"/>
          </a:xfrm>
          <a:prstGeom prst="rect">
            <a:avLst/>
          </a:prstGeom>
          <a:solidFill>
            <a:srgbClr val="E08B35"/>
          </a:solidFill>
          <a:ln w="12700">
            <a:solidFill>
              <a:srgbClr val="4A34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374136"/>
            <a:ext cx="8961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35-55s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39696" y="32826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断桥与切相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69080" y="3300984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普通态无法通过，按 R 进入灰烬态，旧桥显现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1371600" y="3694176"/>
            <a:ext cx="0" cy="292608"/>
          </a:xfrm>
          <a:prstGeom prst="line">
            <a:avLst/>
          </a:prstGeom>
          <a:noFill/>
          <a:ln w="12700">
            <a:solidFill>
              <a:srgbClr val="4A342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41248" y="3986784"/>
            <a:ext cx="1051560" cy="457200"/>
          </a:xfrm>
          <a:prstGeom prst="rect">
            <a:avLst/>
          </a:prstGeom>
          <a:solidFill>
            <a:srgbClr val="2B211D"/>
          </a:solidFill>
          <a:ln w="12700">
            <a:solidFill>
              <a:srgbClr val="4A34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123944"/>
            <a:ext cx="8961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B1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55-75s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39696" y="40325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能力与路线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069080" y="4050792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投掷宝剑 / 冲刺 / 火冰魔法展示路线扩展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1371600" y="4443984"/>
            <a:ext cx="0" cy="292608"/>
          </a:xfrm>
          <a:prstGeom prst="line">
            <a:avLst/>
          </a:prstGeom>
          <a:noFill/>
          <a:ln w="12700">
            <a:solidFill>
              <a:srgbClr val="4A3427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41248" y="4736592"/>
            <a:ext cx="1051560" cy="457200"/>
          </a:xfrm>
          <a:prstGeom prst="rect">
            <a:avLst/>
          </a:prstGeom>
          <a:solidFill>
            <a:srgbClr val="2B211D"/>
          </a:solidFill>
          <a:ln w="12700">
            <a:solidFill>
              <a:srgbClr val="4A34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873752"/>
            <a:ext cx="8961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B1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75-90s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139696" y="47823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登塔与 Boss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069080" y="480060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进入主塔或 Boss 区域，收束“登上钟塔”的目标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859536" y="5687568"/>
            <a:ext cx="4846320" cy="530352"/>
          </a:xfrm>
          <a:prstGeom prst="roundRect">
            <a:avLst>
              <a:gd name="adj" fmla="val 10345"/>
            </a:avLst>
          </a:prstGeom>
          <a:solidFill>
            <a:srgbClr val="2B211D">
              <a:alpha val="96000"/>
            </a:srgbClr>
          </a:solidFill>
          <a:ln w="12700">
            <a:solidFill>
              <a:srgbClr val="4A3427">
                <a:alpha val="9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4984" y="5815584"/>
            <a:ext cx="453542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录制建议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画面优先展示 UI 变化和地形变化；每个镜头保持 2 秒以上可读时间，避免快速切菜单。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99632" y="5687568"/>
            <a:ext cx="4480560" cy="530352"/>
          </a:xfrm>
          <a:prstGeom prst="roundRect">
            <a:avLst>
              <a:gd name="adj" fmla="val 10345"/>
            </a:avLst>
          </a:prstGeom>
          <a:solidFill>
            <a:srgbClr val="301E17">
              <a:alpha val="96000"/>
            </a:srgbClr>
          </a:solidFill>
          <a:ln w="12700">
            <a:solidFill>
              <a:srgbClr val="E08B35">
                <a:alpha val="9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5815584"/>
            <a:ext cx="416966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讲解一句话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“玩家用战斗赚取灰烬，再用灰烬把过去临时变成现在的道路。”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10F"/>
          </a:solidFill>
          <a:ln w="12700">
            <a:solidFill>
              <a:srgbClr val="15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8B35">
              <a:alpha val="92000"/>
            </a:srgbClr>
          </a:solidFill>
          <a:ln w="12700">
            <a:solidFill>
              <a:srgbClr val="E08B3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600000">
            <a:off x="9464040" y="-777240"/>
            <a:ext cx="3200400" cy="3200400"/>
          </a:xfrm>
          <a:prstGeom prst="arc">
            <a:avLst/>
          </a:prstGeom>
          <a:solidFill>
            <a:srgbClr val="15110F">
              <a:alpha val="0"/>
            </a:srgbClr>
          </a:solidFill>
          <a:ln w="12700">
            <a:solidFill>
              <a:srgbClr val="E08B35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6600000">
            <a:off x="9893808" y="-347472"/>
            <a:ext cx="2331720" cy="2331720"/>
          </a:xfrm>
          <a:prstGeom prst="arc">
            <a:avLst/>
          </a:prstGeom>
          <a:solidFill>
            <a:srgbClr val="15110F">
              <a:alpha val="0"/>
            </a:srgbClr>
          </a:solidFill>
          <a:ln w="12700">
            <a:solidFill>
              <a:srgbClr val="F4B15D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9184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 &amp; PLAN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26880" y="644652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6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灰烬钟塔 / Ashen Clocktower · 11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658368"/>
            <a:ext cx="768096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风险与后续计划：优先打磨最短可展示链路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76656" y="117043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课程项目的范围控制：先完整，再丰富。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" y="2029968"/>
            <a:ext cx="2834640" cy="932688"/>
          </a:xfrm>
          <a:prstGeom prst="chevron">
            <a:avLst/>
          </a:prstGeom>
          <a:solidFill>
            <a:srgbClr val="E08B35"/>
          </a:solidFill>
          <a:ln w="12700">
            <a:solidFill>
              <a:srgbClr val="E08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221284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83664" y="212140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打通主路径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883664" y="244144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小径 → 断桥 → 塔前 → 入塔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4343400" y="2029968"/>
            <a:ext cx="2834640" cy="932688"/>
          </a:xfrm>
          <a:prstGeom prst="chevron">
            <a:avLst/>
          </a:prstGeom>
          <a:solidFill>
            <a:srgbClr val="2B211D"/>
          </a:solidFill>
          <a:ln w="12700">
            <a:solidFill>
              <a:srgbClr val="4A34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2856" y="221284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1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下阶段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12664" y="212140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补齐反馈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312664" y="244144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受击、击杀、切相、拾取音画反馈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7772400" y="2029968"/>
            <a:ext cx="2834640" cy="932688"/>
          </a:xfrm>
          <a:prstGeom prst="chevron">
            <a:avLst/>
          </a:prstGeom>
          <a:solidFill>
            <a:srgbClr val="2B211D"/>
          </a:solidFill>
          <a:ln w="12700">
            <a:solidFill>
              <a:srgbClr val="4A34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91856" y="221284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1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展示前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741664" y="212140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录制视频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41664" y="244144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压缩成 60-90 秒，嵌入最后一页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932688" y="4005072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211915">
              <a:alpha val="96000"/>
            </a:srgbClr>
          </a:solidFill>
          <a:ln w="12700">
            <a:solidFill>
              <a:srgbClr val="4A3427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88136" y="4133088"/>
            <a:ext cx="2615184" cy="740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范围风险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地图过大导致主路径不完整。对策：优先保留 1 条必经路线。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4005072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211915">
              <a:alpha val="96000"/>
            </a:srgbClr>
          </a:solidFill>
          <a:ln w="12700">
            <a:solidFill>
              <a:srgbClr val="4A3427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4133088"/>
            <a:ext cx="2615184" cy="740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可读性风险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切相地形不够明显。对策：灰烬态滤镜、粒子、轮廓统一强化。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45552" y="4005072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301E17">
              <a:alpha val="96000"/>
            </a:srgbClr>
          </a:solidFill>
          <a:ln w="12700">
            <a:solidFill>
              <a:srgbClr val="E08B35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01000" y="4133088"/>
            <a:ext cx="2615184" cy="740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演示风险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现场操作失误。对策：PPT 末页附录屏，现场 Demo 作为加分项。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10F"/>
          </a:solidFill>
          <a:ln w="12700">
            <a:solidFill>
              <a:srgbClr val="15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8B35">
              <a:alpha val="92000"/>
            </a:srgbClr>
          </a:solidFill>
          <a:ln w="12700">
            <a:solidFill>
              <a:srgbClr val="E08B3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600000">
            <a:off x="9464040" y="-777240"/>
            <a:ext cx="3200400" cy="3200400"/>
          </a:xfrm>
          <a:prstGeom prst="arc">
            <a:avLst/>
          </a:prstGeom>
          <a:solidFill>
            <a:srgbClr val="15110F">
              <a:alpha val="0"/>
            </a:srgbClr>
          </a:solidFill>
          <a:ln w="12700">
            <a:solidFill>
              <a:srgbClr val="E08B35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6600000">
            <a:off x="9893808" y="-347472"/>
            <a:ext cx="2331720" cy="2331720"/>
          </a:xfrm>
          <a:prstGeom prst="arc">
            <a:avLst/>
          </a:prstGeom>
          <a:solidFill>
            <a:srgbClr val="15110F">
              <a:alpha val="0"/>
            </a:srgbClr>
          </a:solidFill>
          <a:ln w="12700">
            <a:solidFill>
              <a:srgbClr val="F4B15D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9184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VIDEO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26880" y="644652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E6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灰烬钟塔 / Ashen Clocktower · 12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658368"/>
            <a:ext cx="768096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展示视频：完整体验闭环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76656" y="117043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当前目录未发现 MP4；此页已预留正式视频位，并附 Demo 程序路径。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41248" y="1600200"/>
            <a:ext cx="6766560" cy="4160520"/>
          </a:xfrm>
          <a:prstGeom prst="roundRect">
            <a:avLst>
              <a:gd name="adj" fmla="val 1758"/>
            </a:avLst>
          </a:prstGeom>
          <a:solidFill>
            <a:srgbClr val="080706">
              <a:alpha val="97000"/>
            </a:srgbClr>
          </a:solidFill>
          <a:ln w="12700">
            <a:solidFill>
              <a:srgbClr val="E08B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3675888" y="2980944"/>
            <a:ext cx="868680" cy="868680"/>
          </a:xfrm>
          <a:prstGeom prst="triangle">
            <a:avLst/>
          </a:prstGeom>
          <a:solidFill>
            <a:srgbClr val="E08B35"/>
          </a:solidFill>
          <a:ln w="12700">
            <a:solidFill>
              <a:srgbClr val="E08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29968" y="4160520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60-90 秒录屏 MP4 拖入此区域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389888" y="4526280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BBA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推荐内容：战斗获得灰烬 → 按 R 切相 → 旧桥显现 → 获得能力 → 登塔 / Boss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001000" y="1828800"/>
            <a:ext cx="3246120" cy="822960"/>
          </a:xfrm>
          <a:prstGeom prst="roundRect">
            <a:avLst>
              <a:gd name="adj" fmla="val 6667"/>
            </a:avLst>
          </a:prstGeom>
          <a:solidFill>
            <a:srgbClr val="301E17">
              <a:alpha val="96000"/>
            </a:srgbClr>
          </a:solidFill>
          <a:ln w="12700">
            <a:solidFill>
              <a:srgbClr val="E08B35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56448" y="1956816"/>
            <a:ext cx="2935224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展示包路径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D:\UNITY2\AshenClocktower\Metroidvania.exe</a:t>
            </a:r>
            <a:endParaRPr lang="en-US" sz="1100" dirty="0"/>
          </a:p>
        </p:txBody>
      </p:sp>
      <p:sp>
        <p:nvSpPr>
          <p:cNvPr id="16" name="Text 14">
            <a:hlinkClick r:id="rId1" tooltip="运行本地 Demo 包"/>
          </p:cNvPr>
          <p:cNvSpPr/>
          <p:nvPr/>
        </p:nvSpPr>
        <p:spPr>
          <a:xfrm>
            <a:off x="8284464" y="2880360"/>
            <a:ext cx="2670048" cy="411480"/>
          </a:xfrm>
          <a:prstGeom prst="rect">
            <a:avLst/>
          </a:prstGeom>
          <a:solidFill>
            <a:srgbClr val="E08B35"/>
          </a:solidFill>
          <a:ln>
            <a:solidFill>
              <a:srgbClr val="F4B1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080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运行本地 Demo 包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点击运行 Demo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01584" y="3767328"/>
            <a:ext cx="29718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96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正式提交前将录屏文件命名为 AshenClocktower_Demo.mp4</a:t>
            </a:r>
            <a:endParaRPr lang="en-US" sz="960" dirty="0"/>
          </a:p>
          <a:p>
            <a:r>
              <a:rPr lang="en-US" sz="96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PowerPoint 中使用“插入 → 视频 → 此设备”替换左侧占位</a:t>
            </a:r>
            <a:endParaRPr lang="en-US" sz="960" dirty="0"/>
          </a:p>
          <a:p>
            <a:r>
              <a:rPr lang="en-US" sz="960" dirty="0">
                <a:solidFill>
                  <a:srgbClr val="F4E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保留右侧 Demo 路径，便于现场补充运行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896112" y="6053328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4B1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灰烬不是死亡后的残余，而是时间不愿忘记的东西。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Course 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灰烬钟塔 完整课程展示PPT</dc:title>
  <dc:subject>Ashen Clocktower course showcase</dc:subject>
  <dc:creator>Ashen Clocktower Team</dc:creator>
  <cp:lastModifiedBy>Ashen Clocktower Team</cp:lastModifiedBy>
  <cp:revision>1</cp:revision>
  <dcterms:created xsi:type="dcterms:W3CDTF">2026-06-11T10:53:35Z</dcterms:created>
  <dcterms:modified xsi:type="dcterms:W3CDTF">2026-06-11T10:53:35Z</dcterms:modified>
</cp:coreProperties>
</file>