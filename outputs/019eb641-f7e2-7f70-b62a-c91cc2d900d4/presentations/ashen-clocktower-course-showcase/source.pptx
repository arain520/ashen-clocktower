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oster_wide_bg_dark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9436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A623"/>
                </a:solidFill>
              </a:rPr>
              <a:t>灰烬钟塔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713232" y="128016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8D0"/>
                </a:solidFill>
              </a:rPr>
              <a:t>课程设计展示 · Ashen Clocktower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13232" y="5760720"/>
            <a:ext cx="56692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E8D0"/>
                </a:solidFill>
              </a:rPr>
              <a:t>战斗夺回灰烬，切相显现过去。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13232" y="6144768"/>
            <a:ext cx="7680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CBA0"/>
                </a:solidFill>
              </a:rPr>
              <a:t>在破碎的现在与燃尽的过去之间，踏上通往塔顶的路。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E8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项目定位：2D 类银河恶魔城课程设计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41832"/>
            <a:ext cx="1371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pic>
        <p:nvPicPr>
          <p:cNvPr id="4" name="Image 0" descr="/mnt/data/5eca9776-ce2f-4c37-9544-c8dfff50bcbe.png"/>
          <p:cNvPicPr>
            <a:picLocks noChangeAspect="1"/>
          </p:cNvPicPr>
          <p:nvPr/>
        </p:nvPicPr>
        <p:blipFill>
          <a:blip r:embed="rId1"/>
          <a:srcRect t="6700" b="6701"/>
          <a:stretch>
            <a:fillRect/>
          </a:stretch>
        </p:blipFill>
        <p:spPr>
          <a:xfrm>
            <a:off x="502920" y="1234440"/>
            <a:ext cx="5486400" cy="2971800"/>
          </a:xfrm>
          <a:prstGeom prst="rect">
            <a:avLst/>
          </a:prstGeom>
        </p:spPr>
      </p:pic>
      <p:pic>
        <p:nvPicPr>
          <p:cNvPr id="5" name="Image 1" descr="/mnt/data/63471f50-76b0-4183-a48e-38ad68c76136.png"/>
          <p:cNvPicPr>
            <a:picLocks noChangeAspect="1"/>
          </p:cNvPicPr>
          <p:nvPr/>
        </p:nvPicPr>
        <p:blipFill>
          <a:blip r:embed="rId2"/>
          <a:srcRect t="6337" b="6337"/>
          <a:stretch>
            <a:fillRect/>
          </a:stretch>
        </p:blipFill>
        <p:spPr>
          <a:xfrm>
            <a:off x="6263640" y="1234440"/>
            <a:ext cx="5440680" cy="2971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85800" y="457200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345A85">
              <a:alpha val="92000"/>
            </a:srgbClr>
          </a:solidFill>
          <a:ln w="12700">
            <a:solidFill>
              <a:srgbClr val="345A85">
                <a:alpha val="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77240" y="464515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E8D0"/>
                </a:solidFill>
              </a:rPr>
              <a:t>动作平台跳跃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2971800" y="4572000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FF6B1A">
              <a:alpha val="92000"/>
            </a:srgbClr>
          </a:solidFill>
          <a:ln w="12700">
            <a:solidFill>
              <a:srgbClr val="FF6B1A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063240" y="4645152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E8D0"/>
                </a:solidFill>
              </a:rPr>
              <a:t>灰烬资源管理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394960" y="457200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5A623">
              <a:alpha val="92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0" y="464515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E8D0"/>
                </a:solidFill>
              </a:rPr>
              <a:t>切相探索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406640" y="457200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3A4B5F">
              <a:alpha val="92000"/>
            </a:srgbClr>
          </a:solidFill>
          <a:ln w="12700">
            <a:solidFill>
              <a:srgbClr val="3A4B5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498080" y="4645152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E8D0"/>
                </a:solidFill>
              </a:rPr>
              <a:t>房间式关卡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9601200" y="457200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4F3A61">
              <a:alpha val="92000"/>
            </a:srgbClr>
          </a:solidFill>
          <a:ln w="12700">
            <a:solidFill>
              <a:srgbClr val="4F3A61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92640" y="4645152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E8D0"/>
                </a:solidFill>
              </a:rPr>
              <a:t>剧情残响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85800" y="5285232"/>
            <a:ext cx="10789920" cy="47548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4E8D0"/>
                </a:solidFill>
              </a:rPr>
              <a:t>当前成果包括：基础战斗、HUD、本地化菜单、灰烬值 UI、灰烬态视觉、叙事触发系统与地图蓝图工具。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98A8"/>
                </a:solidFill>
              </a:rPr>
              <a:t>灰烬钟塔 / Ashen Clocktower ·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E8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核心循环：用战斗换取“触碰过去”的时间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371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95728" y="2468880"/>
            <a:ext cx="4114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453128" y="2468880"/>
            <a:ext cx="4114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510528" y="2468880"/>
            <a:ext cx="4114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67928" y="2468880"/>
            <a:ext cx="4114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645920" y="3657600"/>
            <a:ext cx="8183880" cy="914400"/>
          </a:xfrm>
          <a:prstGeom prst="line">
            <a:avLst/>
          </a:prstGeom>
          <a:noFill/>
          <a:ln w="17780">
            <a:solidFill>
              <a:srgbClr val="5E6A7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20574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11820"/>
          </a:solidFill>
          <a:ln w="25400">
            <a:solidFill>
              <a:srgbClr val="8C2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16712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C203A"/>
                </a:solidFill>
              </a:rPr>
              <a:t>战斗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2542032"/>
            <a:ext cx="1389888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F4E8D0"/>
                </a:solidFill>
              </a:rPr>
              <a:t>攻击敌人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F4E8D0"/>
                </a:solidFill>
              </a:rPr>
              <a:t>获得灰烬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2880360" y="20574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11820"/>
          </a:solidFill>
          <a:ln w="25400">
            <a:solidFill>
              <a:srgbClr val="FF6B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3512" y="216712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1A"/>
                </a:solidFill>
              </a:rPr>
              <a:t>灰烬值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90088" y="2542032"/>
            <a:ext cx="1389888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F4E8D0"/>
                </a:solidFill>
              </a:rPr>
              <a:t>技能 / 回血 / 切相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F4E8D0"/>
                </a:solidFill>
              </a:rPr>
              <a:t>共享资源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937760" y="20574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1182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912" y="216712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</a:rPr>
              <a:t>切相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47488" y="2542032"/>
            <a:ext cx="1389888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F4E8D0"/>
                </a:solidFill>
              </a:rPr>
              <a:t>按 R 进入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F4E8D0"/>
                </a:solidFill>
              </a:rPr>
              <a:t>灰烬态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995160" y="20574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11820"/>
          </a:solidFill>
          <a:ln w="25400">
            <a:solidFill>
              <a:srgbClr val="63D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68312" y="216712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3D5FF"/>
                </a:solidFill>
              </a:rPr>
              <a:t>探索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04888" y="2542032"/>
            <a:ext cx="1389888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F4E8D0"/>
                </a:solidFill>
              </a:rPr>
              <a:t>过去平台显现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F4E8D0"/>
                </a:solidFill>
              </a:rPr>
              <a:t>跨越断桥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9052560" y="20574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11820"/>
          </a:solidFill>
          <a:ln w="25400">
            <a:solidFill>
              <a:srgbClr val="7C5A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25712" y="216712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5AE8"/>
                </a:solidFill>
              </a:rPr>
              <a:t>成长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62288" y="2542032"/>
            <a:ext cx="1389888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F4E8D0"/>
                </a:solidFill>
              </a:rPr>
              <a:t>解锁投剑 / 冲刺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F4E8D0"/>
                </a:solidFill>
              </a:rPr>
              <a:t>火 / 冰 / 赐福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914400" y="4800600"/>
            <a:ext cx="10424160" cy="5943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E8D0"/>
                </a:solidFill>
              </a:rPr>
              <a:t>设计亮点：同一个资源同时服务战斗、生存与探索，迫使玩家在“马上变强”和“保留灰烬通过地形”之间取舍。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4400" y="562356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B56D"/>
                </a:solidFill>
              </a:rPr>
              <a:t>战斗 → 灰烬 → 切相 → 旧路显现 → 能力成长 → 更深探索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98A8"/>
                </a:solidFill>
              </a:rPr>
              <a:t>灰烬钟塔 / Ashen Clocktower ·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E8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系统拆解：灰烬态让“过去”成为可玩的地形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371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pic>
        <p:nvPicPr>
          <p:cNvPr id="4" name="Image 0" descr="/mnt/data/哥特风格装饰框架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05940"/>
            <a:ext cx="2103120" cy="3154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926080" y="114300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111820"/>
          </a:solidFill>
          <a:ln w="12700">
            <a:solidFill>
              <a:srgbClr val="2E394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926080" y="1143000"/>
            <a:ext cx="54864" cy="91440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127248" y="1271016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E8D0"/>
                </a:solidFill>
              </a:rPr>
              <a:t>灰烬系统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127248" y="1655064"/>
            <a:ext cx="3611880" cy="27432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8B2A3"/>
                </a:solidFill>
              </a:rPr>
              <a:t>攻击命中与击杀敌人获得灰烬；技能、回血与切相消耗灰烬。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926080" y="23317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111820"/>
          </a:solidFill>
          <a:ln w="12700">
            <a:solidFill>
              <a:srgbClr val="2E394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26080" y="2331720"/>
            <a:ext cx="54864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27248" y="2459736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E8D0"/>
                </a:solidFill>
              </a:rPr>
              <a:t>切相系统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127248" y="2843784"/>
            <a:ext cx="3611880" cy="27432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8B2A3"/>
                </a:solidFill>
              </a:rPr>
              <a:t>按 R 进入灰烬态；灰烬态下旧桥、跳台与隐藏结构显现。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926080" y="352044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111820"/>
          </a:solidFill>
          <a:ln w="12700">
            <a:solidFill>
              <a:srgbClr val="2E394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26080" y="3520440"/>
            <a:ext cx="54864" cy="914400"/>
          </a:xfrm>
          <a:prstGeom prst="rect">
            <a:avLst/>
          </a:prstGeom>
          <a:solidFill>
            <a:srgbClr val="D08C3C"/>
          </a:solidFill>
          <a:ln w="12700">
            <a:solidFill>
              <a:srgbClr val="D08C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27248" y="3648456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E8D0"/>
                </a:solidFill>
              </a:rPr>
              <a:t>灰烬态视觉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127248" y="4032504"/>
            <a:ext cx="3611880" cy="27432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8B2A3"/>
                </a:solidFill>
              </a:rPr>
              <a:t>画面变暗、橙黄色滤镜、灰烬粒子飘动，帮助玩家区分状态。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926080" y="470916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111820"/>
          </a:solidFill>
          <a:ln w="12700">
            <a:solidFill>
              <a:srgbClr val="2E394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926080" y="4709160"/>
            <a:ext cx="54864" cy="914400"/>
          </a:xfrm>
          <a:prstGeom prst="rect">
            <a:avLst/>
          </a:prstGeom>
          <a:solidFill>
            <a:srgbClr val="7380FF"/>
          </a:solidFill>
          <a:ln w="12700">
            <a:solidFill>
              <a:srgbClr val="7380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127248" y="4837176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E8D0"/>
                </a:solidFill>
              </a:rPr>
              <a:t>叙事触发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127248" y="5221224"/>
            <a:ext cx="3611880" cy="27432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8B2A3"/>
                </a:solidFill>
              </a:rPr>
              <a:t>路过石碑或残响点弹出文本，用短句铺设世界观和机制提示。</a:t>
            </a:r>
            <a:endParaRPr lang="en-US" sz="1150" dirty="0"/>
          </a:p>
        </p:txBody>
      </p:sp>
      <p:pic>
        <p:nvPicPr>
          <p:cNvPr id="21" name="Image 1" descr="/mnt/data/古老铜钟细节艺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280" y="1097280"/>
            <a:ext cx="2682240" cy="40233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15200" y="55321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E8D0"/>
                </a:solidFill>
              </a:rPr>
              <a:t>钟、灰烬、残响、过去结构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98A8"/>
                </a:solidFill>
              </a:rPr>
              <a:t>灰烬钟塔 / Ashen Clocktower ·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E8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剧情推进：从荒野来到塔顶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371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216152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696" y="1563624"/>
            <a:ext cx="0" cy="301752"/>
          </a:xfrm>
          <a:prstGeom prst="line">
            <a:avLst/>
          </a:prstGeom>
          <a:noFill/>
          <a:ln w="17780">
            <a:solidFill>
              <a:srgbClr val="5963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14300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</a:rPr>
              <a:t>开场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14600" y="114300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4E8D0"/>
                </a:solidFill>
              </a:rPr>
              <a:t>远行者抵达钟塔，纵身跃入荒野小径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22960" y="1929384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6696" y="2276856"/>
            <a:ext cx="0" cy="301752"/>
          </a:xfrm>
          <a:prstGeom prst="line">
            <a:avLst/>
          </a:prstGeom>
          <a:noFill/>
          <a:ln w="17780">
            <a:solidFill>
              <a:srgbClr val="5963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856232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</a:rPr>
              <a:t>教学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14600" y="1856232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4E8D0"/>
                </a:solidFill>
              </a:rPr>
              <a:t>击杀小怪、篝火休整、首次获得灰烬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22960" y="2642616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6696" y="2990088"/>
            <a:ext cx="0" cy="301752"/>
          </a:xfrm>
          <a:prstGeom prst="line">
            <a:avLst/>
          </a:prstGeom>
          <a:noFill/>
          <a:ln w="17780">
            <a:solidFill>
              <a:srgbClr val="5963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2569464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</a:rPr>
              <a:t>灰烬态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14600" y="2569464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4E8D0"/>
                </a:solidFill>
              </a:rPr>
              <a:t>断桥受阻，交互石碑，显现旧桥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22960" y="3355848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" y="3703320"/>
            <a:ext cx="0" cy="301752"/>
          </a:xfrm>
          <a:prstGeom prst="line">
            <a:avLst/>
          </a:prstGeom>
          <a:noFill/>
          <a:ln w="17780">
            <a:solidFill>
              <a:srgbClr val="5963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3282696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</a:rPr>
              <a:t>入塔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514600" y="3282696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4E8D0"/>
                </a:solidFill>
              </a:rPr>
              <a:t>获得投掷宝剑，打开钟塔入口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822960" y="406908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" y="4416552"/>
            <a:ext cx="0" cy="301752"/>
          </a:xfrm>
          <a:prstGeom prst="line">
            <a:avLst/>
          </a:prstGeom>
          <a:noFill/>
          <a:ln w="17780">
            <a:solidFill>
              <a:srgbClr val="5963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399592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</a:rPr>
              <a:t>成长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514600" y="399592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4E8D0"/>
                </a:solidFill>
              </a:rPr>
              <a:t>冲刺 / 火 / 冰逐步解锁，理解钟塔真相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822960" y="4782312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6696" y="5129784"/>
            <a:ext cx="0" cy="301752"/>
          </a:xfrm>
          <a:prstGeom prst="line">
            <a:avLst/>
          </a:prstGeom>
          <a:noFill/>
          <a:ln w="17780">
            <a:solidFill>
              <a:srgbClr val="5963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470916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</a:rPr>
              <a:t>赐福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514600" y="470916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4E8D0"/>
                </a:solidFill>
              </a:rPr>
              <a:t>旧日长廊石碑回应，灰烬态不再消耗</a:t>
            </a:r>
            <a:endParaRPr lang="en-US" sz="1320" dirty="0"/>
          </a:p>
        </p:txBody>
      </p:sp>
      <p:sp>
        <p:nvSpPr>
          <p:cNvPr id="28" name="Shape 26"/>
          <p:cNvSpPr/>
          <p:nvPr/>
        </p:nvSpPr>
        <p:spPr>
          <a:xfrm>
            <a:off x="822960" y="5495544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6696" y="5843016"/>
            <a:ext cx="0" cy="301752"/>
          </a:xfrm>
          <a:prstGeom prst="line">
            <a:avLst/>
          </a:prstGeom>
          <a:noFill/>
          <a:ln w="17780">
            <a:solidFill>
              <a:srgbClr val="5963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5422392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</a:rPr>
              <a:t>终局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514600" y="5422392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4E8D0"/>
                </a:solidFill>
              </a:rPr>
              <a:t>攀上塔顶，与守护者 Boss 战斗</a:t>
            </a:r>
            <a:endParaRPr lang="en-US" sz="1320" dirty="0"/>
          </a:p>
        </p:txBody>
      </p:sp>
      <p:pic>
        <p:nvPicPr>
          <p:cNvPr id="32" name="Image 0" descr="/mnt/data/哥特风格石像雕塑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508760"/>
            <a:ext cx="2377440" cy="356616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315200" y="5806440"/>
            <a:ext cx="402336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B8B2A3"/>
                </a:solidFill>
              </a:rPr>
              <a:t>旧日长廊承载好友昵称、头像、寄语与 BGM，作为“记忆的灰烬”。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98A8"/>
                </a:solidFill>
              </a:rPr>
              <a:t>灰烬钟塔 / Ashen Clocktower ·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E8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地图蓝图：房间式结构 + 传送门连接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371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9728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111820"/>
          </a:solidFill>
          <a:ln w="22860">
            <a:solidFill>
              <a:srgbClr val="345A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207008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E8D0"/>
                </a:solidFill>
              </a:rPr>
              <a:t>荒凉小径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26080" y="109728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111820"/>
          </a:solidFill>
          <a:ln w="2286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90088" y="1207008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E8D0"/>
                </a:solidFill>
              </a:rPr>
              <a:t>断桥教学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120640" y="109728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111820"/>
          </a:solidFill>
          <a:ln w="22860">
            <a:solidFill>
              <a:srgbClr val="FF6B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84648" y="1207008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E8D0"/>
                </a:solidFill>
              </a:rPr>
              <a:t>钟塔前庭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0" y="1097280"/>
            <a:ext cx="2194560" cy="640080"/>
          </a:xfrm>
          <a:prstGeom prst="roundRect">
            <a:avLst>
              <a:gd name="adj" fmla="val 8571"/>
            </a:avLst>
          </a:prstGeom>
          <a:solidFill>
            <a:srgbClr val="111820"/>
          </a:solidFill>
          <a:ln w="22860">
            <a:solidFill>
              <a:srgbClr val="6984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79208" y="1207008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E8D0"/>
                </a:solidFill>
              </a:rPr>
              <a:t>钟塔大厅 Hub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371600" y="288036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111820"/>
          </a:solidFill>
          <a:ln w="22860">
            <a:solidFill>
              <a:srgbClr val="5EB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08" y="2990088"/>
            <a:ext cx="170078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E8D0"/>
                </a:solidFill>
              </a:rPr>
              <a:t>齿轮廊道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4E8D0"/>
                </a:solidFill>
              </a:rPr>
              <a:t>冲刺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840480" y="288036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111820"/>
          </a:solidFill>
          <a:ln w="22860">
            <a:solidFill>
              <a:srgbClr val="FF69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04488" y="2990088"/>
            <a:ext cx="170078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E8D0"/>
                </a:solidFill>
              </a:rPr>
              <a:t>熔灰工坊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4E8D0"/>
                </a:solidFill>
              </a:rPr>
              <a:t>火魔法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288036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111820"/>
          </a:solidFill>
          <a:ln w="22860">
            <a:solidFill>
              <a:srgbClr val="78D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2990088"/>
            <a:ext cx="170078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E8D0"/>
                </a:solidFill>
              </a:rPr>
              <a:t>静霜钟室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4E8D0"/>
                </a:solidFill>
              </a:rPr>
              <a:t>冰魔法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78240" y="288036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111820"/>
          </a:solidFill>
          <a:ln w="22860">
            <a:solidFill>
              <a:srgbClr val="C8A6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42248" y="2990088"/>
            <a:ext cx="170078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E8D0"/>
                </a:solidFill>
              </a:rPr>
              <a:t>旧日长廊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4E8D0"/>
                </a:solidFill>
              </a:rPr>
              <a:t>赐福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498348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111820"/>
          </a:solidFill>
          <a:ln w="2286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5093208"/>
            <a:ext cx="188366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E8D0"/>
                </a:solidFill>
              </a:rPr>
              <a:t>主塔登顶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0" y="498348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111820"/>
          </a:solidFill>
          <a:ln w="22860">
            <a:solidFill>
              <a:srgbClr val="8C20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79208" y="5093208"/>
            <a:ext cx="188366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E8D0"/>
                </a:solidFill>
              </a:rPr>
              <a:t>塔顶 Boss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31520" y="608076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B8B2A3"/>
                </a:solidFill>
              </a:rPr>
              <a:t>说明：当前工具目标是生成“房间蓝图”，每个房间独立绘制，出入口统一用传送门连接，便于后续手工搭建。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98A8"/>
                </a:solidFill>
              </a:rPr>
              <a:t>灰烬钟塔 / Ashen Clocktower ·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E8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演示视频：建议展示 90 秒完整体验闭环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371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pic>
        <p:nvPicPr>
          <p:cNvPr id="4" name="Image 0" descr="/mnt/data/5eca9776-ce2f-4c37-9544-c8dfff50bcbe.png"/>
          <p:cNvPicPr>
            <a:picLocks noChangeAspect="1"/>
          </p:cNvPicPr>
          <p:nvPr/>
        </p:nvPicPr>
        <p:blipFill>
          <a:blip r:embed="rId1"/>
          <a:srcRect t="3053" b="3053"/>
          <a:stretch>
            <a:fillRect/>
          </a:stretch>
        </p:blipFill>
        <p:spPr>
          <a:xfrm>
            <a:off x="731520" y="1143000"/>
            <a:ext cx="576072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46120" y="2423160"/>
            <a:ext cx="822960" cy="822960"/>
          </a:xfrm>
          <a:prstGeom prst="ellipse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547872" y="257860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▶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12280" y="1143000"/>
            <a:ext cx="4526280" cy="685800"/>
          </a:xfrm>
          <a:prstGeom prst="roundRect">
            <a:avLst>
              <a:gd name="adj" fmla="val 10667"/>
            </a:avLst>
          </a:prstGeom>
          <a:solidFill>
            <a:srgbClr val="111820"/>
          </a:solidFill>
          <a:ln w="12700">
            <a:solidFill>
              <a:srgbClr val="2E39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12280" y="1143000"/>
            <a:ext cx="54864" cy="685800"/>
          </a:xfrm>
          <a:prstGeom prst="rect">
            <a:avLst/>
          </a:prstGeom>
          <a:solidFill>
            <a:srgbClr val="345A85"/>
          </a:solidFill>
          <a:ln w="12700">
            <a:solidFill>
              <a:srgbClr val="345A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13448" y="1271016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E8D0"/>
                </a:solidFill>
              </a:rPr>
              <a:t>镜头 1：开场与荒凉小径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013448" y="1655064"/>
            <a:ext cx="4206240" cy="4572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8B2A3"/>
                </a:solidFill>
              </a:rPr>
              <a:t>展示主菜单、开场文字、玩家落地、基础移动。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12280" y="1993392"/>
            <a:ext cx="4526280" cy="685800"/>
          </a:xfrm>
          <a:prstGeom prst="roundRect">
            <a:avLst>
              <a:gd name="adj" fmla="val 10667"/>
            </a:avLst>
          </a:prstGeom>
          <a:solidFill>
            <a:srgbClr val="111820"/>
          </a:solidFill>
          <a:ln w="12700">
            <a:solidFill>
              <a:srgbClr val="2E394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12280" y="1993392"/>
            <a:ext cx="54864" cy="68580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13448" y="2121408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E8D0"/>
                </a:solidFill>
              </a:rPr>
              <a:t>镜头 2：战斗与灰烬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013448" y="2505456"/>
            <a:ext cx="4206240" cy="4572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8B2A3"/>
                </a:solidFill>
              </a:rPr>
              <a:t>击杀小怪，灰烬值 UI 上涨；篝火存档点修整。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812280" y="2843784"/>
            <a:ext cx="4526280" cy="685800"/>
          </a:xfrm>
          <a:prstGeom prst="roundRect">
            <a:avLst>
              <a:gd name="adj" fmla="val 10667"/>
            </a:avLst>
          </a:prstGeom>
          <a:solidFill>
            <a:srgbClr val="111820"/>
          </a:solidFill>
          <a:ln w="12700">
            <a:solidFill>
              <a:srgbClr val="2E394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12280" y="2843784"/>
            <a:ext cx="5486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13448" y="2971800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E8D0"/>
                </a:solidFill>
              </a:rPr>
              <a:t>镜头 3：断桥与切相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013448" y="3355848"/>
            <a:ext cx="4206240" cy="4572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8B2A3"/>
                </a:solidFill>
              </a:rPr>
              <a:t>普通态无法通过，按 R 进入灰烬态，旧桥显现。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812280" y="3694176"/>
            <a:ext cx="4526280" cy="685800"/>
          </a:xfrm>
          <a:prstGeom prst="roundRect">
            <a:avLst>
              <a:gd name="adj" fmla="val 10667"/>
            </a:avLst>
          </a:prstGeom>
          <a:solidFill>
            <a:srgbClr val="111820"/>
          </a:solidFill>
          <a:ln w="12700">
            <a:solidFill>
              <a:srgbClr val="2E394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12280" y="3694176"/>
            <a:ext cx="54864" cy="685800"/>
          </a:xfrm>
          <a:prstGeom prst="rect">
            <a:avLst/>
          </a:prstGeom>
          <a:solidFill>
            <a:srgbClr val="7380FF"/>
          </a:solidFill>
          <a:ln w="12700">
            <a:solidFill>
              <a:srgbClr val="7380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13448" y="3822192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E8D0"/>
                </a:solidFill>
              </a:rPr>
              <a:t>镜头 4：能力与登塔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013448" y="4206240"/>
            <a:ext cx="4206240" cy="4572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8B2A3"/>
                </a:solidFill>
              </a:rPr>
              <a:t>投掷宝剑 / 冲刺 / 火冰魔法，最终进入 Boss 区域。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31520" y="5029200"/>
            <a:ext cx="10607040" cy="685800"/>
          </a:xfrm>
          <a:prstGeom prst="roundRect">
            <a:avLst>
              <a:gd name="adj" fmla="val 6667"/>
            </a:avLst>
          </a:prstGeom>
          <a:solidFill>
            <a:srgbClr val="1B2430"/>
          </a:solidFill>
          <a:ln w="12700">
            <a:solidFill>
              <a:srgbClr val="2F3B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4400" y="523036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4E8D0"/>
                </a:solidFill>
              </a:rPr>
              <a:t>此页已预留视频位：正式展示时可将录屏 MP4 拖入左侧截图区域。建议录制 60–90 秒，突出“战斗获得灰烬 → 切相过桥 → 能力解锁 → 登塔”。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98A8"/>
                </a:solidFill>
              </a:rPr>
              <a:t>灰烬钟塔 / Ashen Clocktower ·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E8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实现成果与后续计划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371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4300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111820"/>
          </a:solidFill>
          <a:ln w="12700">
            <a:solidFill>
              <a:srgbClr val="2E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43000"/>
            <a:ext cx="54864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271016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E8D0"/>
                </a:solidFill>
              </a:rPr>
              <a:t>已完成 / 已有雏形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1655064"/>
            <a:ext cx="4983480" cy="59436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8B2A3"/>
                </a:solidFill>
              </a:rPr>
              <a:t>灰烬系统、切相系统、灰烬态物体、灰烬值 UI、对话触发、中文菜单、宣传海报、房间蓝图工具。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111820"/>
          </a:solidFill>
          <a:ln w="12700">
            <a:solidFill>
              <a:srgbClr val="2E39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651760"/>
            <a:ext cx="54864" cy="1234440"/>
          </a:xfrm>
          <a:prstGeom prst="rect">
            <a:avLst/>
          </a:prstGeom>
          <a:solidFill>
            <a:srgbClr val="63D5FF"/>
          </a:solidFill>
          <a:ln w="12700">
            <a:solidFill>
              <a:srgbClr val="63D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779776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E8D0"/>
                </a:solidFill>
              </a:rPr>
              <a:t>正在推进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" y="3163824"/>
            <a:ext cx="4983480" cy="59436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8B2A3"/>
                </a:solidFill>
              </a:rPr>
              <a:t>精细化房间蓝图、单向平台、旧日长廊内容征集、能力获取提示文案、关键资产制作。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111820"/>
          </a:solidFill>
          <a:ln w="12700">
            <a:solidFill>
              <a:srgbClr val="2E39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160520"/>
            <a:ext cx="54864" cy="1234440"/>
          </a:xfrm>
          <a:prstGeom prst="rect">
            <a:avLst/>
          </a:prstGeom>
          <a:solidFill>
            <a:srgbClr val="7C5AE8"/>
          </a:solidFill>
          <a:ln w="12700">
            <a:solidFill>
              <a:srgbClr val="7C5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288536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E8D0"/>
                </a:solidFill>
              </a:rPr>
              <a:t>下一步重点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2688" y="4672584"/>
            <a:ext cx="4983480" cy="59436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8B2A3"/>
                </a:solidFill>
              </a:rPr>
              <a:t>打通 Demo：荒凉小径 → 断桥切相 → 塔前战斗 → 投剑入塔 → 主塔登顶预览。</a:t>
            </a:r>
            <a:endParaRPr lang="en-US" sz="1150" dirty="0"/>
          </a:p>
        </p:txBody>
      </p:sp>
      <p:pic>
        <p:nvPicPr>
          <p:cNvPr id="16" name="Image 0" descr="/mnt/data/古老铜钟细节艺术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257300"/>
            <a:ext cx="2286000" cy="3429000"/>
          </a:xfrm>
          <a:prstGeom prst="rect">
            <a:avLst/>
          </a:prstGeom>
        </p:spPr>
      </p:pic>
      <p:pic>
        <p:nvPicPr>
          <p:cNvPr id="17" name="Image 1" descr="/mnt/data/哥特风格石像雕塑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440180"/>
            <a:ext cx="2103120" cy="31546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492240" y="5623560"/>
            <a:ext cx="4846320" cy="5029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E8D0"/>
                </a:solidFill>
              </a:rPr>
              <a:t>课程展示目标：让评委在 3 分钟内理解“灰烬”如何同时驱动战斗、探索、叙事与关卡设计。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98A8"/>
                </a:solidFill>
              </a:rPr>
              <a:t>灰烬钟塔 / Ashen Clocktower ·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oster_wide_bg_dark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2423160"/>
            <a:ext cx="9784080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E8D0"/>
                </a:solidFill>
              </a:rPr>
              <a:t>灰烬不是死亡后的残余，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4E8D0"/>
                </a:solidFill>
              </a:rPr>
              <a:t>而是时间不愿忘记的东西。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754880" y="416052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</a:rPr>
              <a:t>谢谢观看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1435</Words>
  <Application>WPS 演示</Application>
  <PresentationFormat>On-screen Show (16:9)</PresentationFormat>
  <Paragraphs>190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四川大学 课程设计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灰烬钟塔 课程展示PPT</dc:title>
  <dc:creator>OpenAI</dc:creator>
  <dc:subject>灰烬钟塔课程展示</dc:subject>
  <cp:lastModifiedBy>李治林</cp:lastModifiedBy>
  <cp:revision>2</cp:revision>
  <dcterms:created xsi:type="dcterms:W3CDTF">2026-06-11T10:09:00Z</dcterms:created>
  <dcterms:modified xsi:type="dcterms:W3CDTF">2026-06-11T10:37:47Z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CEC049ABA3A5463594C8740DCDC3395F_13</vt:lpwstr>
  </property>
  <property fmtid="{D5CDD505-2E9C-101B-9397-08002B2CF9AE}" pid="3" name="KSOProductBuildVer">
    <vt:lpwstr>2052-12.1.0.26895</vt:lpwstr>
  </property>
</Properties>
</file>